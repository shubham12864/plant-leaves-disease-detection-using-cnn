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f502eef15f461f" /><Relationship Type="http://schemas.openxmlformats.org/officeDocument/2006/relationships/extended-properties" Target="/docProps/app.xml" Id="R2147035769f944a1" /><Relationship Type="http://schemas.openxmlformats.org/officeDocument/2006/relationships/officeDocument" Target="/ppt/presentation.xml" Id="Rdd6ed57a6e6d4bc0" /></Relationships>
</file>

<file path=ppt/presentation.xml><?xml version="1.0" encoding="utf-8"?>
<p:presentation xmlns:p="http://schemas.openxmlformats.org/presentationml/2006/main">
  <p:sldMasterIdLst>
    <p:sldMasterId xmlns:r="http://schemas.openxmlformats.org/officeDocument/2006/relationships" id="2147483648" r:id="Rb663af4c558a4562"/>
  </p:sldMasterIdLst>
  <p:notesMasterIdLst>
    <p:notesMasterId xmlns:r="http://schemas.openxmlformats.org/officeDocument/2006/relationships" r:id="Rf0e953ac8c2045ce"/>
  </p:notesMasterIdLst>
  <p:sldIdLst>
    <p:sldId xmlns:r="http://schemas.openxmlformats.org/officeDocument/2006/relationships" id="256" r:id="Rc8f1ccb98d21473d"/>
    <p:sldId xmlns:r="http://schemas.openxmlformats.org/officeDocument/2006/relationships" id="257" r:id="R747184a10a9a4cba"/>
    <p:sldId xmlns:r="http://schemas.openxmlformats.org/officeDocument/2006/relationships" id="258" r:id="Rc222746a6cfe4b8d"/>
    <p:sldId xmlns:r="http://schemas.openxmlformats.org/officeDocument/2006/relationships" id="259" r:id="Rafc9a19bf1684390"/>
    <p:sldId xmlns:r="http://schemas.openxmlformats.org/officeDocument/2006/relationships" id="260" r:id="R3084602dac4c40c4"/>
    <p:sldId xmlns:r="http://schemas.openxmlformats.org/officeDocument/2006/relationships" id="261" r:id="R517be9e024424f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2fcc6308ba43db" /><Relationship Type="http://schemas.openxmlformats.org/officeDocument/2006/relationships/slideMaster" Target="/ppt/slideMasters/slideMaster1.xml" Id="Rb663af4c558a4562" /><Relationship Type="http://schemas.openxmlformats.org/officeDocument/2006/relationships/notesMaster" Target="/ppt/notesMasters/notesMaster1.xml" Id="Rf0e953ac8c2045ce" /><Relationship Type="http://schemas.openxmlformats.org/officeDocument/2006/relationships/presProps" Target="/ppt/presProps.xml" Id="Rbcd85f7f51d9414c" /><Relationship Type="http://schemas.openxmlformats.org/officeDocument/2006/relationships/tableStyles" Target="/ppt/tableStyles.xml" Id="R1219e31490b249ca" /><Relationship Type="http://schemas.openxmlformats.org/officeDocument/2006/relationships/slide" Target="/ppt/slides/slide1.xml" Id="Rc8f1ccb98d21473d" /><Relationship Type="http://schemas.openxmlformats.org/officeDocument/2006/relationships/slide" Target="/ppt/slides/slide2.xml" Id="R747184a10a9a4cba" /><Relationship Type="http://schemas.openxmlformats.org/officeDocument/2006/relationships/slide" Target="/ppt/slides/slide3.xml" Id="Rc222746a6cfe4b8d" /><Relationship Type="http://schemas.openxmlformats.org/officeDocument/2006/relationships/slide" Target="/ppt/slides/slide4.xml" Id="Rafc9a19bf1684390" /><Relationship Type="http://schemas.openxmlformats.org/officeDocument/2006/relationships/slide" Target="/ppt/slides/slide5.xml" Id="R3084602dac4c40c4" /><Relationship Type="http://schemas.openxmlformats.org/officeDocument/2006/relationships/slide" Target="/ppt/slides/slide6.xml" Id="R517be9e024424f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ef853a443449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da67549022437b" /><Relationship Type="http://schemas.openxmlformats.org/officeDocument/2006/relationships/notesMaster" Target="/ppt/notesMasters/notesMaster1.xml" Id="R992eec6ebc1143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c6e93d3b1c4efb" /><Relationship Type="http://schemas.openxmlformats.org/officeDocument/2006/relationships/notesMaster" Target="/ppt/notesMasters/notesMaster1.xml" Id="Rd6403178da4e49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f79230047f4758" /><Relationship Type="http://schemas.openxmlformats.org/officeDocument/2006/relationships/notesMaster" Target="/ppt/notesMasters/notesMaster1.xml" Id="Reaff0f8af7a847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59195c12e2495e" /><Relationship Type="http://schemas.openxmlformats.org/officeDocument/2006/relationships/notesMaster" Target="/ppt/notesMasters/notesMaster1.xml" Id="R7cf93948428b47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bcf2a28841429f" /><Relationship Type="http://schemas.openxmlformats.org/officeDocument/2006/relationships/notesMaster" Target="/ppt/notesMasters/notesMaster1.xml" Id="R3866b6c15d9d4e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2796b65173457c" /><Relationship Type="http://schemas.openxmlformats.org/officeDocument/2006/relationships/notesMaster" Target="/ppt/notesMasters/notesMaster1.xml" Id="R8d863ab8836f45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Phase I direction asked the team to review at least 15 papers. The supplied review records 21 entries. Explain that the work now follows that evidence with a reproducible Phase 2 baseline. Official project title and guide name come from the approval form. Team roster and roll numbers come from the Phase I project record; confirm the fourth roll number if it is questioned. Image generated for this presentation, not a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records say 21 papers were surveyed. The attached PDF provides 21 notes but not a complete bibliography. This slide uses the fully identifiable Mohanty et al. study as a concrete example. The source reports 99.35% on held-out PlantVillage and 31.4% on images from other sources. The tests differ, so do not describe them as the same split. Other confirmed examples: Kamal et al. report 98.34% Reduced MobileNet on PlantVillage and 36.03% for MobileNet on different-condition images. Sources: https://doi.org/10.3389/fpls.2016.01419 ; https://doi.org/10.1016/j.compag.2019.104948 ; https://arxiv.org/abs/1911.10317. Source for review count and themes: supplied Review of Literature PDF. The updated literature file marks citation gaps and conflicting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each row as a direct design decision. PlantVillage source split included train/test duplicates by group ID or exact hash; 290 training rows were excluded before the development split. The frozen PlantVillage manifests contain 36,762 train, 6,544 validation, and 10,709 test images. Current PlantDoc images are not evaluated. Its label taxonomy differs, so the team must publish a reviewed mapping first. Local sources: reports/split_freeze.json, reports/data_audit.json, data/README.md, reports/phase2_baseline/PHASE2_RESULTS_SUMMARY.md.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upstream PlantVillage archive supplies 54,305 rows. The audit removed 290 source-train rows that matched test group IDs or exact hashes. The resulting 54,015 images are split into 36,762 train, 6,544 validation, and 10,709 test. Training-time normalization uses channel mean and standard deviation 0.5. Augmentation applies to train images only. The model uses AdamW, cross-entropy, batch 64, up to 12 epochs, mixed precision, and two Tesla T4 GPUs. PlantDoc contains 2,578 files in the retrieved archive, while its upstream paper reports 2,598; the project data README records this discrepancy. It is not used in the current result. Sources: project data README, split_freeze.json, experiment_config.json; PlantDoc source https://arxiv.org/abs/1911.10317.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Charts use the recorded training_history.csv values for all 12 epochs. The model was selected at epoch 12, validation macro-F1 0.94441. Locked test metrics on 10,709 images: accuracy 0.9694649, balanced accuracy 0.9601606, macro-F1 0.9606802. These are PlantVillage scores only. The validation set did not update model weights; the test set was evaluated after selecting the checkpoint. The curves show non-monotonic validation performance, which supports keeping the checkpoint rule explicit. Source: reports/phase2_baseline/training_history.csv and locked_test_metrics.json.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specific plan. PlantDoc data is present in the project but no PlantDoc model score exists. The label mapping must be reviewed because names differ and no exact string overlap exists. Keep the current PlantVillage test as the frozen baseline. Future proposal items such as Grad-CAM, severity grading, leaf localization, advisory features, and a web demo are not implemented in Phase 2. GitHub: https://github.com/Shubham12864/Plant-leaves-disease-detection-using-cnn. PlantVillage source: https://huggingface.co/datasets/mohanty/PlantVillage. PlantDoc source: https://github.com/pratikkayal/PlantDoc-Dataset. Current results are in reports/phase2_baseline/.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ff4be4ea6041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26f967006440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418e06dee646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f4270b45964e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407918f5e843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f5df2bf29a44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484314-E0EE-4755-A291-70CBE3044F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43D42F-AC55-4FEE-9445-4D0527AE7B0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2CAD97-DD00-46AC-8082-A5EF4A0FD9C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8C876-2490-45C1-BF71-DFFBDFE9F6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9C7EBA-BE07-4D56-9751-B90AC94F6C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2BF8DE-83D1-420A-9206-12F05A9384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5C66DB-710D-4C6B-915A-F6BE583F4A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D9A879-336A-472B-8F32-161B225E6E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068819-5042-4B04-8512-6763FE7451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98C2D2-6661-4296-888B-1A4E06F867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07bd1b246d4904" /><Relationship Type="http://schemas.openxmlformats.org/officeDocument/2006/relationships/slideLayout" Target="/ppt/slideLayouts/slideLayout1.xml" Id="Rb8c0ff75cefe49a2" /><Relationship Type="http://schemas.openxmlformats.org/officeDocument/2006/relationships/slideLayout" Target="/ppt/slideLayouts/slideLayout2.xml" Id="R2767e5c12eb2425f" /><Relationship Type="http://schemas.openxmlformats.org/officeDocument/2006/relationships/slideLayout" Target="/ppt/slideLayouts/slideLayout3.xml" Id="R038cddeaf46c4b7e" /><Relationship Type="http://schemas.openxmlformats.org/officeDocument/2006/relationships/slideLayout" Target="/ppt/slideLayouts/slideLayout4.xml" Id="R18f97ae4a61c4525" /><Relationship Type="http://schemas.openxmlformats.org/officeDocument/2006/relationships/slideLayout" Target="/ppt/slideLayouts/slideLayout5.xml" Id="Rad21c162744740fe" /><Relationship Type="http://schemas.openxmlformats.org/officeDocument/2006/relationships/slideLayout" Target="/ppt/slideLayouts/slideLayout6.xml" Id="R561891693afa4b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c0ff75cefe49a2"/>
    <p:sldLayoutId xmlns:r="http://schemas.openxmlformats.org/officeDocument/2006/relationships" id="2147483650" r:id="R2767e5c12eb2425f"/>
    <p:sldLayoutId xmlns:r="http://schemas.openxmlformats.org/officeDocument/2006/relationships" id="2147483651" r:id="R038cddeaf46c4b7e"/>
    <p:sldLayoutId xmlns:r="http://schemas.openxmlformats.org/officeDocument/2006/relationships" id="2147483652" r:id="R18f97ae4a61c4525"/>
    <p:sldLayoutId xmlns:r="http://schemas.openxmlformats.org/officeDocument/2006/relationships" id="2147483653" r:id="Rad21c162744740fe"/>
    <p:sldLayoutId xmlns:r="http://schemas.openxmlformats.org/officeDocument/2006/relationships" id="2147483654" r:id="R561891693afa4b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7b0347e7d84c4d" /><Relationship Type="http://schemas.openxmlformats.org/officeDocument/2006/relationships/image" Target="/ppt/media/image.png" Id="Rf93db0142c9e4e39" /><Relationship Type="http://schemas.openxmlformats.org/officeDocument/2006/relationships/notesSlide" Target="/ppt/notesSlides/notesSlide1.xml" Id="R2f7e9f8b0fc842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2a4516c1cc4ac9" /><Relationship Type="http://schemas.openxmlformats.org/officeDocument/2006/relationships/notesSlide" Target="/ppt/notesSlides/notesSlide2.xml" Id="Rf819d2fdbe0841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9146d4be3945fc" /><Relationship Type="http://schemas.openxmlformats.org/officeDocument/2006/relationships/notesSlide" Target="/ppt/notesSlides/notesSlide3.xml" Id="R7ec396300edb46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66637d5bf8446f" /><Relationship Type="http://schemas.openxmlformats.org/officeDocument/2006/relationships/notesSlide" Target="/ppt/notesSlides/notesSlide4.xml" Id="R215088b9ca3648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4a9c01d2ef4803" /><Relationship Type="http://schemas.openxmlformats.org/officeDocument/2006/relationships/chart" Target="/ppt/slides/charts/chart1.xml" Id="Ra350fea87f99414c" /><Relationship Type="http://schemas.openxmlformats.org/officeDocument/2006/relationships/chart" Target="/ppt/slides/charts/chart2.xml" Id="R866432e658074a5b" /><Relationship Type="http://schemas.openxmlformats.org/officeDocument/2006/relationships/notesSlide" Target="/ppt/notesSlides/notesSlide5.xml" Id="R4c57f0015d9f4c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ba7eab34a344e5" /><Relationship Type="http://schemas.openxmlformats.org/officeDocument/2006/relationships/notesSlide" Target="/ppt/notesSlides/notesSlide6.xml" Id="Rb5a62f76c556412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 loss</c:v>
          </c:tx>
          <c:spPr>
            <a:ln xmlns:a="http://schemas.openxmlformats.org/drawingml/2006/main" w="28575">
              <a:solidFill>
                <a:srgbClr val="D87942"/>
              </a:solidFill>
              <a:prstDash val="solid"/>
            </a:ln>
          </c:spPr>
          <c:marker>
            <c:symbol val="circle"/>
            <c:size val="5"/>
            <c:spPr>
              <a:solidFill xmlns:a="http://schemas.openxmlformats.org/drawingml/2006/main">
                <a:srgbClr val="D87942"/>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0.0</c:formatCode>
                <c:ptCount val="12"/>
                <c:pt idx="0">
                  <c:v>1.38058</c:v>
                </c:pt>
                <c:pt idx="1">
                  <c:v>0.68101</c:v>
                </c:pt>
                <c:pt idx="2">
                  <c:v>0.49065</c:v>
                </c:pt>
                <c:pt idx="3">
                  <c:v>0.3941</c:v>
                </c:pt>
                <c:pt idx="4">
                  <c:v>0.33847</c:v>
                </c:pt>
                <c:pt idx="5">
                  <c:v>0.29268</c:v>
                </c:pt>
                <c:pt idx="6">
                  <c:v>0.25075</c:v>
                </c:pt>
                <c:pt idx="7">
                  <c:v>0.22841</c:v>
                </c:pt>
                <c:pt idx="8">
                  <c:v>0.20731</c:v>
                </c:pt>
                <c:pt idx="9">
                  <c:v>0.19382</c:v>
                </c:pt>
                <c:pt idx="10">
                  <c:v>0.17399</c:v>
                </c:pt>
                <c:pt idx="11">
                  <c:v>0.16678</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7DD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16A"/>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7DDD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Loss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00">
                <a:solidFill>
                  <a:srgbClr val="61716A"/>
                </a:solidFill>
                <a:latin typeface="Arial"/>
                <a:ea typeface="Arial"/>
                <a:cs typeface="Arial"/>
              </a:defRPr>
            </a:pPr>
          </a:p>
        </c:txPr>
        <c:crossAx val="48650112"/>
        <c:crossBetween val="between"/>
        <c:majorUnit val="0.5"/>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Validation macro-F1</c:v>
          </c:tx>
          <c:spPr>
            <a:ln xmlns:a="http://schemas.openxmlformats.org/drawingml/2006/main" w="28575">
              <a:solidFill>
                <a:srgbClr val="2F6B54"/>
              </a:solidFill>
              <a:prstDash val="solid"/>
            </a:ln>
          </c:spPr>
          <c:marker>
            <c:symbol val="circle"/>
            <c:size val="5"/>
            <c:spPr>
              <a:solidFill xmlns:a="http://schemas.openxmlformats.org/drawingml/2006/main">
                <a:srgbClr val="2F6B54"/>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c:formatCode>
                <c:ptCount val="12"/>
                <c:pt idx="0">
                  <c:v>0.68241</c:v>
                </c:pt>
                <c:pt idx="1">
                  <c:v>0.80432</c:v>
                </c:pt>
                <c:pt idx="2">
                  <c:v>0.81446</c:v>
                </c:pt>
                <c:pt idx="3">
                  <c:v>0.84412</c:v>
                </c:pt>
                <c:pt idx="4">
                  <c:v>0.75601</c:v>
                </c:pt>
                <c:pt idx="5">
                  <c:v>0.9166</c:v>
                </c:pt>
                <c:pt idx="6">
                  <c:v>0.90478</c:v>
                </c:pt>
                <c:pt idx="7">
                  <c:v>0.87939</c:v>
                </c:pt>
                <c:pt idx="8">
                  <c:v>0.93148</c:v>
                </c:pt>
                <c:pt idx="9">
                  <c:v>0.91541</c:v>
                </c:pt>
                <c:pt idx="10">
                  <c:v>0.92057</c:v>
                </c:pt>
                <c:pt idx="11">
                  <c:v>0.94441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7DD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16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DDD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Macro-F1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00">
                <a:solidFill>
                  <a:srgbClr val="61716A"/>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27"/>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F467FFB-B4E1-4ADF-9B13-503055A22A39}"/>
              </a:ext>
            </a:extLst>
          </p:cNvPr>
          <p:cNvPicPr>
            <a:picLocks xmlns:a="http://schemas.openxmlformats.org/drawingml/2006/main" noChangeAspect="1"/>
          </p:cNvPicPr>
          <p:nvPr/>
        </p:nvPicPr>
        <p:blipFill>
          <a:blip xmlns:r="http://schemas.openxmlformats.org/officeDocument/2006/relationships" xmlns:a="http://schemas.openxmlformats.org/drawingml/2006/main" r:embed="Rf93db0142c9e4e39"/>
          <a:srcRect xmlns:a="http://schemas.openxmlformats.org/drawingml/2006/main" l="27723" t="0" r="27723" b="0"/>
          <a:stretch xmlns:a="http://schemas.openxmlformats.org/drawingml/2006/main">
            <a:fillRect l="0" t="0" r="0" b="0"/>
          </a:stretch>
        </p:blipFill>
        <p:spPr>
          <a:xfrm xmlns:a="http://schemas.openxmlformats.org/drawingml/2006/main">
            <a:off x="6762750" y="0"/>
            <a:ext cx="5429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A85C1B-C96C-41D6-9E84-FD809F217DC3}"/>
              </a:ext>
            </a:extLst>
          </p:cNvPr>
          <p:cNvSpPr>
            <a:spLocks xmlns:a="http://schemas.openxmlformats.org/drawingml/2006/main" noGrp="1"/>
          </p:cNvSpPr>
          <p:nvPr/>
        </p:nvSpPr>
        <p:spPr>
          <a:xfrm xmlns:a="http://schemas.openxmlformats.org/drawingml/2006/main">
            <a:off x="0" y="0"/>
            <a:ext cx="6762750" cy="6858000"/>
          </a:xfrm>
          <a:prstGeom xmlns:a="http://schemas.openxmlformats.org/drawingml/2006/main" prst="rect">
            <a:avLst/>
          </a:prstGeom>
          <a:solidFill xmlns:a="http://schemas.openxmlformats.org/drawingml/2006/main">
            <a:srgbClr val="102D2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CE863E-5042-4826-9253-28888FAC400D}"/>
              </a:ext>
            </a:extLst>
          </p:cNvPr>
          <p:cNvSpPr>
            <a:spLocks xmlns:a="http://schemas.openxmlformats.org/drawingml/2006/main" noGrp="1"/>
          </p:cNvSpPr>
          <p:nvPr/>
        </p:nvSpPr>
        <p:spPr>
          <a:xfrm xmlns:a="http://schemas.openxmlformats.org/drawingml/2006/main">
            <a:off x="6572250" y="0"/>
            <a:ext cx="247650" cy="6858000"/>
          </a:xfrm>
          <a:prstGeom xmlns:a="http://schemas.openxmlformats.org/drawingml/2006/main" prst="rect">
            <a:avLst/>
          </a:prstGeom>
          <a:solidFill xmlns:a="http://schemas.openxmlformats.org/drawingml/2006/main">
            <a:srgbClr val="D8794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3693A0A-7E9A-46DB-A6B1-52FA46E8543F}"/>
              </a:ext>
            </a:extLst>
          </p:cNvPr>
          <p:cNvSpPr>
            <a:spLocks xmlns:a="http://schemas.openxmlformats.org/drawingml/2006/main" noGrp="1"/>
          </p:cNvSpPr>
          <p:nvPr/>
        </p:nvSpPr>
        <p:spPr>
          <a:xfrm xmlns:a="http://schemas.openxmlformats.org/drawingml/2006/main">
            <a:off x="685800" y="4381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DDBB68"/>
                </a:solidFill>
                <a:latin typeface="Arial"/>
                <a:ea typeface="Arial"/>
                <a:cs typeface="Arial"/>
              </a:defRPr>
            </a:defPPr>
          </a:lstStyle>
          <a:p xmlns:a="http://schemas.openxmlformats.org/drawingml/2006/main">
            <a:pPr>
              <a:defRPr sz="1050" b="1">
                <a:solidFill>
                  <a:srgbClr val="DDBB68"/>
                </a:solidFill>
                <a:latin typeface="Arial"/>
                <a:ea typeface="Arial"/>
                <a:cs typeface="Arial"/>
              </a:defRPr>
            </a:pPr>
            <a:r>
              <a:rPr sz="1050" b="1">
                <a:solidFill>
                  <a:srgbClr val="DDBB68"/>
                </a:solidFill>
                <a:latin typeface="Arial"/>
                <a:ea typeface="Arial"/>
                <a:cs typeface="Arial"/>
              </a:rPr>
              <a:t>B.TECH CAPSTONE     PHASE 2</a:t>
            </a:r>
          </a:p>
        </p:txBody>
      </p:sp>
      <p:sp>
        <p:nvSpPr>
          <p:cNvPr id="5" name="">
            <a:extLst xmlns:a="http://schemas.openxmlformats.org/drawingml/2006/main">
              <a:ext uri="{FF2B5EF4-FFF2-40B4-BE49-F238E27FC236}">
                <a16:creationId xmlns:a16="http://schemas.microsoft.com/office/drawing/2014/main" id="{6DFCE6F0-12B4-4C89-87FD-C80597E5318D}"/>
              </a:ext>
            </a:extLst>
          </p:cNvPr>
          <p:cNvSpPr>
            <a:spLocks xmlns:a="http://schemas.openxmlformats.org/drawingml/2006/main" noGrp="1"/>
          </p:cNvSpPr>
          <p:nvPr/>
        </p:nvSpPr>
        <p:spPr>
          <a:xfrm xmlns:a="http://schemas.openxmlformats.org/drawingml/2006/main">
            <a:off x="685800" y="1000125"/>
            <a:ext cx="571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600" b="1">
                <a:solidFill>
                  <a:srgbClr val="FFFFFF"/>
                </a:solidFill>
                <a:latin typeface="Arial"/>
                <a:ea typeface="Arial"/>
                <a:cs typeface="Arial"/>
              </a:defRPr>
            </a:def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Plant leaves</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disease detection</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using CNN</a:t>
            </a:r>
          </a:p>
        </p:txBody>
      </p:sp>
      <p:sp>
        <p:nvSpPr>
          <p:cNvPr id="6" name="">
            <a:extLst xmlns:a="http://schemas.openxmlformats.org/drawingml/2006/main">
              <a:ext uri="{FF2B5EF4-FFF2-40B4-BE49-F238E27FC236}">
                <a16:creationId xmlns:a16="http://schemas.microsoft.com/office/drawing/2014/main" id="{E97CA1BA-7C64-4540-8583-10988026CC12}"/>
              </a:ext>
            </a:extLst>
          </p:cNvPr>
          <p:cNvSpPr>
            <a:spLocks xmlns:a="http://schemas.openxmlformats.org/drawingml/2006/main" noGrp="1"/>
          </p:cNvSpPr>
          <p:nvPr/>
        </p:nvSpPr>
        <p:spPr>
          <a:xfrm xmlns:a="http://schemas.openxmlformats.org/drawingml/2006/main">
            <a:off x="704850" y="3019425"/>
            <a:ext cx="547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DDE7DB"/>
                </a:solidFill>
                <a:latin typeface="Arial"/>
                <a:ea typeface="Arial"/>
                <a:cs typeface="Arial"/>
              </a:defRPr>
            </a:defPPr>
          </a:lstStyle>
          <a:p xmlns:a="http://schemas.openxmlformats.org/drawingml/2006/main">
            <a:pPr>
              <a:defRPr sz="1650" b="0">
                <a:solidFill>
                  <a:srgbClr val="DDE7DB"/>
                </a:solidFill>
                <a:latin typeface="Arial"/>
                <a:ea typeface="Arial"/>
                <a:cs typeface="Arial"/>
              </a:defRPr>
            </a:pPr>
            <a:r>
              <a:rPr sz="1650" b="0">
                <a:solidFill>
                  <a:srgbClr val="DDE7DB"/>
                </a:solidFill>
                <a:latin typeface="Arial"/>
                <a:ea typeface="Arial"/>
                <a:cs typeface="Arial"/>
              </a:rPr>
              <a:t>From a 21-paper review to a tested CNN baseline</a:t>
            </a:r>
          </a:p>
        </p:txBody>
      </p:sp>
      <p:sp>
        <p:nvSpPr>
          <p:cNvPr id="7" name="">
            <a:extLst xmlns:a="http://schemas.openxmlformats.org/drawingml/2006/main">
              <a:ext uri="{FF2B5EF4-FFF2-40B4-BE49-F238E27FC236}">
                <a16:creationId xmlns:a16="http://schemas.microsoft.com/office/drawing/2014/main" id="{0CB6298B-3B9F-4B0A-AC93-1323B83FCA41}"/>
              </a:ext>
            </a:extLst>
          </p:cNvPr>
          <p:cNvSpPr>
            <a:spLocks xmlns:a="http://schemas.openxmlformats.org/drawingml/2006/main" noGrp="1"/>
          </p:cNvSpPr>
          <p:nvPr/>
        </p:nvSpPr>
        <p:spPr>
          <a:xfrm xmlns:a="http://schemas.openxmlformats.org/drawingml/2006/main">
            <a:off x="704850" y="3667125"/>
            <a:ext cx="5143500" cy="19050"/>
          </a:xfrm>
          <a:prstGeom xmlns:a="http://schemas.openxmlformats.org/drawingml/2006/main" prst="rect">
            <a:avLst/>
          </a:prstGeom>
          <a:solidFill xmlns:a="http://schemas.openxmlformats.org/drawingml/2006/main">
            <a:srgbClr val="52716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28C0BBA-58BB-4DBE-B5A3-8823D2F9F700}"/>
              </a:ext>
            </a:extLst>
          </p:cNvPr>
          <p:cNvSpPr>
            <a:spLocks xmlns:a="http://schemas.openxmlformats.org/drawingml/2006/main" noGrp="1"/>
          </p:cNvSpPr>
          <p:nvPr/>
        </p:nvSpPr>
        <p:spPr>
          <a:xfrm xmlns:a="http://schemas.openxmlformats.org/drawingml/2006/main">
            <a:off x="704850" y="38862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DDBB68"/>
                </a:solidFill>
                <a:latin typeface="Arial"/>
                <a:ea typeface="Arial"/>
                <a:cs typeface="Arial"/>
              </a:defRPr>
            </a:defPPr>
          </a:lstStyle>
          <a:p xmlns:a="http://schemas.openxmlformats.org/drawingml/2006/main">
            <a:pPr>
              <a:defRPr sz="975" b="1">
                <a:solidFill>
                  <a:srgbClr val="DDBB68"/>
                </a:solidFill>
                <a:latin typeface="Arial"/>
                <a:ea typeface="Arial"/>
                <a:cs typeface="Arial"/>
              </a:defRPr>
            </a:pPr>
            <a:r>
              <a:rPr sz="975" b="1">
                <a:solidFill>
                  <a:srgbClr val="DDBB68"/>
                </a:solidFill>
                <a:latin typeface="Arial"/>
                <a:ea typeface="Arial"/>
                <a:cs typeface="Arial"/>
              </a:rPr>
              <a:t>TEAM</a:t>
            </a:r>
          </a:p>
        </p:txBody>
      </p:sp>
      <p:sp>
        <p:nvSpPr>
          <p:cNvPr id="9" name="">
            <a:extLst xmlns:a="http://schemas.openxmlformats.org/drawingml/2006/main">
              <a:ext uri="{FF2B5EF4-FFF2-40B4-BE49-F238E27FC236}">
                <a16:creationId xmlns:a16="http://schemas.microsoft.com/office/drawing/2014/main" id="{77919D48-D1A3-4069-A9F1-A24E4A8D7CC4}"/>
              </a:ext>
            </a:extLst>
          </p:cNvPr>
          <p:cNvSpPr>
            <a:spLocks xmlns:a="http://schemas.openxmlformats.org/drawingml/2006/main" noGrp="1"/>
          </p:cNvSpPr>
          <p:nvPr/>
        </p:nvSpPr>
        <p:spPr>
          <a:xfrm xmlns:a="http://schemas.openxmlformats.org/drawingml/2006/main">
            <a:off x="704850" y="4171950"/>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FFFFFF"/>
                </a:solidFill>
                <a:latin typeface="Arial"/>
                <a:ea typeface="Arial"/>
                <a:cs typeface="Arial"/>
              </a:defRPr>
            </a:defPPr>
          </a:lstStyle>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Shubham Kumar      CS-2341770</a:t>
            </a:r>
          </a:p>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Ujjwal Pratap Singh      CS-2341898</a:t>
            </a:r>
          </a:p>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Vivek Kumar Prajapati      CS-2341881</a:t>
            </a:r>
          </a:p>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Shubham Kumar      CS-23411370</a:t>
            </a:r>
          </a:p>
        </p:txBody>
      </p:sp>
      <p:sp>
        <p:nvSpPr>
          <p:cNvPr id="10" name="">
            <a:extLst xmlns:a="http://schemas.openxmlformats.org/drawingml/2006/main">
              <a:ext uri="{FF2B5EF4-FFF2-40B4-BE49-F238E27FC236}">
                <a16:creationId xmlns:a16="http://schemas.microsoft.com/office/drawing/2014/main" id="{FA02DE91-D34A-4F60-904B-625A5135716C}"/>
              </a:ext>
            </a:extLst>
          </p:cNvPr>
          <p:cNvSpPr>
            <a:spLocks xmlns:a="http://schemas.openxmlformats.org/drawingml/2006/main" noGrp="1"/>
          </p:cNvSpPr>
          <p:nvPr/>
        </p:nvSpPr>
        <p:spPr>
          <a:xfrm xmlns:a="http://schemas.openxmlformats.org/drawingml/2006/main">
            <a:off x="704850" y="54292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DDBB68"/>
                </a:solidFill>
                <a:latin typeface="Arial"/>
                <a:ea typeface="Arial"/>
                <a:cs typeface="Arial"/>
              </a:defRPr>
            </a:defPPr>
          </a:lstStyle>
          <a:p xmlns:a="http://schemas.openxmlformats.org/drawingml/2006/main">
            <a:pPr>
              <a:defRPr sz="975" b="1">
                <a:solidFill>
                  <a:srgbClr val="DDBB68"/>
                </a:solidFill>
                <a:latin typeface="Arial"/>
                <a:ea typeface="Arial"/>
                <a:cs typeface="Arial"/>
              </a:defRPr>
            </a:pPr>
            <a:r>
              <a:rPr sz="975" b="1">
                <a:solidFill>
                  <a:srgbClr val="DDBB68"/>
                </a:solidFill>
                <a:latin typeface="Arial"/>
                <a:ea typeface="Arial"/>
                <a:cs typeface="Arial"/>
              </a:rPr>
              <a:t>GUIDE</a:t>
            </a:r>
          </a:p>
        </p:txBody>
      </p:sp>
      <p:sp>
        <p:nvSpPr>
          <p:cNvPr id="11" name="">
            <a:extLst xmlns:a="http://schemas.openxmlformats.org/drawingml/2006/main">
              <a:ext uri="{FF2B5EF4-FFF2-40B4-BE49-F238E27FC236}">
                <a16:creationId xmlns:a16="http://schemas.microsoft.com/office/drawing/2014/main" id="{FEE9EB4A-736F-4FF9-B48E-332A71E02194}"/>
              </a:ext>
            </a:extLst>
          </p:cNvPr>
          <p:cNvSpPr>
            <a:spLocks xmlns:a="http://schemas.openxmlformats.org/drawingml/2006/main" noGrp="1"/>
          </p:cNvSpPr>
          <p:nvPr/>
        </p:nvSpPr>
        <p:spPr>
          <a:xfrm xmlns:a="http://schemas.openxmlformats.org/drawingml/2006/main">
            <a:off x="704850" y="56959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FFFFFF"/>
                </a:solidFill>
                <a:latin typeface="Arial"/>
                <a:ea typeface="Arial"/>
                <a:cs typeface="Arial"/>
              </a:defRPr>
            </a:def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Dr. Harendra Singh</a:t>
            </a:r>
          </a:p>
        </p:txBody>
      </p:sp>
      <p:sp>
        <p:nvSpPr>
          <p:cNvPr id="12" name="">
            <a:extLst xmlns:a="http://schemas.openxmlformats.org/drawingml/2006/main">
              <a:ext uri="{FF2B5EF4-FFF2-40B4-BE49-F238E27FC236}">
                <a16:creationId xmlns:a16="http://schemas.microsoft.com/office/drawing/2014/main" id="{180E09EB-B7AF-4608-96EF-BAAE82C16CBD}"/>
              </a:ext>
            </a:extLst>
          </p:cNvPr>
          <p:cNvSpPr>
            <a:spLocks xmlns:a="http://schemas.openxmlformats.org/drawingml/2006/main" noGrp="1"/>
          </p:cNvSpPr>
          <p:nvPr/>
        </p:nvSpPr>
        <p:spPr>
          <a:xfrm xmlns:a="http://schemas.openxmlformats.org/drawingml/2006/main">
            <a:off x="704850" y="6343650"/>
            <a:ext cx="561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C8D7CB"/>
                </a:solidFill>
                <a:latin typeface="Arial"/>
                <a:ea typeface="Arial"/>
                <a:cs typeface="Arial"/>
              </a:defRPr>
            </a:defPPr>
          </a:lstStyle>
          <a:p xmlns:a="http://schemas.openxmlformats.org/drawingml/2006/main">
            <a:pPr>
              <a:defRPr sz="975" b="0">
                <a:solidFill>
                  <a:srgbClr val="C8D7CB"/>
                </a:solidFill>
                <a:latin typeface="Arial"/>
                <a:ea typeface="Arial"/>
                <a:cs typeface="Arial"/>
              </a:defRPr>
            </a:pPr>
            <a:r>
              <a:rPr sz="975" b="0">
                <a:solidFill>
                  <a:srgbClr val="C8D7CB"/>
                </a:solidFill>
                <a:latin typeface="Arial"/>
                <a:ea typeface="Arial"/>
                <a:cs typeface="Arial"/>
              </a:rPr>
              <a:t>IILM University   Phase 2 results and next research steps</a:t>
            </a:r>
          </a:p>
        </p:txBody>
      </p:sp>
    </p:spTree>
    <p:extLst>
      <p:ext uri="{BB962C8B-B14F-4D97-AF65-F5344CB8AC3E}">
        <p14:creationId xmlns:p14="http://schemas.microsoft.com/office/powerpoint/2010/main" val="2126585464"/>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FC8FC00-A3AC-4489-93E3-0401648066AD}"/>
              </a:ext>
            </a:extLst>
          </p:cNvPr>
          <p:cNvSpPr>
            <a:spLocks xmlns:a="http://schemas.openxmlformats.org/drawingml/2006/main" noGrp="1"/>
          </p:cNvSpPr>
          <p:nvPr/>
        </p:nvSpPr>
        <p:spPr>
          <a:xfrm xmlns:a="http://schemas.openxmlformats.org/drawingml/2006/main">
            <a:off x="685800" y="3238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01  LITERATURE REVIEW</a:t>
            </a:r>
          </a:p>
        </p:txBody>
      </p:sp>
      <p:sp>
        <p:nvSpPr>
          <p:cNvPr id="2" name="">
            <a:extLst xmlns:a="http://schemas.openxmlformats.org/drawingml/2006/main">
              <a:ext uri="{FF2B5EF4-FFF2-40B4-BE49-F238E27FC236}">
                <a16:creationId xmlns:a16="http://schemas.microsoft.com/office/drawing/2014/main" id="{94AE2130-CACF-45F9-9991-D6D4B936632E}"/>
              </a:ext>
            </a:extLst>
          </p:cNvPr>
          <p:cNvSpPr>
            <a:spLocks xmlns:a="http://schemas.openxmlformats.org/drawingml/2006/main" noGrp="1"/>
          </p:cNvSpPr>
          <p:nvPr/>
        </p:nvSpPr>
        <p:spPr>
          <a:xfrm xmlns:a="http://schemas.openxmlformats.org/drawingml/2006/main">
            <a:off x="685800" y="638175"/>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150" b="1">
                <a:solidFill>
                  <a:srgbClr val="173F35"/>
                </a:solidFill>
                <a:latin typeface="Arial"/>
                <a:ea typeface="Arial"/>
                <a:cs typeface="Arial"/>
              </a:defRPr>
            </a:defPPr>
          </a:lstStyle>
          <a:p xmlns:a="http://schemas.openxmlformats.org/drawingml/2006/main">
            <a:pPr>
              <a:defRPr sz="3150" b="1">
                <a:solidFill>
                  <a:srgbClr val="173F35"/>
                </a:solidFill>
                <a:latin typeface="Arial"/>
                <a:ea typeface="Arial"/>
                <a:cs typeface="Arial"/>
              </a:defRPr>
            </a:pPr>
            <a:r>
              <a:rPr sz="3150" b="1">
                <a:solidFill>
                  <a:srgbClr val="173F35"/>
                </a:solidFill>
                <a:latin typeface="Arial"/>
                <a:ea typeface="Arial"/>
                <a:cs typeface="Arial"/>
              </a:rPr>
              <a:t>The test setting changes what a score means</a:t>
            </a:r>
          </a:p>
        </p:txBody>
      </p:sp>
      <p:sp>
        <p:nvSpPr>
          <p:cNvPr id="3" name="">
            <a:extLst xmlns:a="http://schemas.openxmlformats.org/drawingml/2006/main">
              <a:ext uri="{FF2B5EF4-FFF2-40B4-BE49-F238E27FC236}">
                <a16:creationId xmlns:a16="http://schemas.microsoft.com/office/drawing/2014/main" id="{F65A0316-8A1E-478D-A615-7700E218BE65}"/>
              </a:ext>
            </a:extLst>
          </p:cNvPr>
          <p:cNvSpPr>
            <a:spLocks xmlns:a="http://schemas.openxmlformats.org/drawingml/2006/main" noGrp="1"/>
          </p:cNvSpPr>
          <p:nvPr/>
        </p:nvSpPr>
        <p:spPr>
          <a:xfrm xmlns:a="http://schemas.openxmlformats.org/drawingml/2006/main">
            <a:off x="704850" y="1171575"/>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61716A"/>
                </a:solidFill>
                <a:latin typeface="Arial"/>
                <a:ea typeface="Arial"/>
                <a:cs typeface="Arial"/>
              </a:defRPr>
            </a:defPPr>
          </a:lstStyle>
          <a:p xmlns:a="http://schemas.openxmlformats.org/drawingml/2006/main">
            <a:pPr>
              <a:defRPr sz="1350" b="0">
                <a:solidFill>
                  <a:srgbClr val="61716A"/>
                </a:solidFill>
                <a:latin typeface="Arial"/>
                <a:ea typeface="Arial"/>
                <a:cs typeface="Arial"/>
              </a:defRPr>
            </a:pPr>
            <a:r>
              <a:rPr sz="1350" b="0">
                <a:solidFill>
                  <a:srgbClr val="61716A"/>
                </a:solidFill>
                <a:latin typeface="Arial"/>
                <a:ea typeface="Arial"/>
                <a:cs typeface="Arial"/>
              </a:rPr>
              <a:t>Phase I asked for 15+ papers. The team recorded 21. Strong benchmark scores still do not prove field performance.</a:t>
            </a:r>
          </a:p>
        </p:txBody>
      </p:sp>
      <p:sp>
        <p:nvSpPr>
          <p:cNvPr id="4" name="">
            <a:extLst xmlns:a="http://schemas.openxmlformats.org/drawingml/2006/main">
              <a:ext uri="{FF2B5EF4-FFF2-40B4-BE49-F238E27FC236}">
                <a16:creationId xmlns:a16="http://schemas.microsoft.com/office/drawing/2014/main" id="{EBDF1551-B204-4A5D-9E1D-9103340224B2}"/>
              </a:ext>
            </a:extLst>
          </p:cNvPr>
          <p:cNvSpPr>
            <a:spLocks xmlns:a="http://schemas.openxmlformats.org/drawingml/2006/main" noGrp="1"/>
          </p:cNvSpPr>
          <p:nvPr/>
        </p:nvSpPr>
        <p:spPr>
          <a:xfrm xmlns:a="http://schemas.openxmlformats.org/drawingml/2006/main">
            <a:off x="685800" y="1581150"/>
            <a:ext cx="1082040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076E88-30B7-4CD1-A537-B889E522136B}"/>
              </a:ext>
            </a:extLst>
          </p:cNvPr>
          <p:cNvSpPr>
            <a:spLocks xmlns:a="http://schemas.openxmlformats.org/drawingml/2006/main" noGrp="1"/>
          </p:cNvSpPr>
          <p:nvPr/>
        </p:nvSpPr>
        <p:spPr>
          <a:xfrm xmlns:a="http://schemas.openxmlformats.org/drawingml/2006/main">
            <a:off x="723900" y="1866900"/>
            <a:ext cx="1238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350" b="1">
                <a:solidFill>
                  <a:srgbClr val="D87942"/>
                </a:solidFill>
                <a:latin typeface="Arial"/>
                <a:ea typeface="Arial"/>
                <a:cs typeface="Arial"/>
              </a:defRPr>
            </a:defPPr>
          </a:lstStyle>
          <a:p xmlns:a="http://schemas.openxmlformats.org/drawingml/2006/main">
            <a:pPr>
              <a:defRPr sz="4350" b="1">
                <a:solidFill>
                  <a:srgbClr val="D87942"/>
                </a:solidFill>
                <a:latin typeface="Arial"/>
                <a:ea typeface="Arial"/>
                <a:cs typeface="Arial"/>
              </a:defRPr>
            </a:pPr>
            <a:r>
              <a:rPr sz="4350" b="1">
                <a:solidFill>
                  <a:srgbClr val="D87942"/>
                </a:solidFill>
                <a:latin typeface="Arial"/>
                <a:ea typeface="Arial"/>
                <a:cs typeface="Arial"/>
              </a:rPr>
              <a:t>21</a:t>
            </a:r>
          </a:p>
        </p:txBody>
      </p:sp>
      <p:sp>
        <p:nvSpPr>
          <p:cNvPr id="6" name="">
            <a:extLst xmlns:a="http://schemas.openxmlformats.org/drawingml/2006/main">
              <a:ext uri="{FF2B5EF4-FFF2-40B4-BE49-F238E27FC236}">
                <a16:creationId xmlns:a16="http://schemas.microsoft.com/office/drawing/2014/main" id="{B23344FB-E522-4234-A2CE-33D6C293BC72}"/>
              </a:ext>
            </a:extLst>
          </p:cNvPr>
          <p:cNvSpPr>
            <a:spLocks xmlns:a="http://schemas.openxmlformats.org/drawingml/2006/main" noGrp="1"/>
          </p:cNvSpPr>
          <p:nvPr/>
        </p:nvSpPr>
        <p:spPr>
          <a:xfrm xmlns:a="http://schemas.openxmlformats.org/drawingml/2006/main">
            <a:off x="742950" y="2609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73F35"/>
                </a:solidFill>
                <a:latin typeface="Arial"/>
                <a:ea typeface="Arial"/>
                <a:cs typeface="Arial"/>
              </a:defRPr>
            </a:defPPr>
          </a:lstStyle>
          <a:p xmlns:a="http://schemas.openxmlformats.org/drawingml/2006/main">
            <a:pPr>
              <a:defRPr sz="1350" b="1">
                <a:solidFill>
                  <a:srgbClr val="173F35"/>
                </a:solidFill>
                <a:latin typeface="Arial"/>
                <a:ea typeface="Arial"/>
                <a:cs typeface="Arial"/>
              </a:defRPr>
            </a:pPr>
            <a:r>
              <a:rPr sz="1350" b="1">
                <a:solidFill>
                  <a:srgbClr val="173F35"/>
                </a:solidFill>
                <a:latin typeface="Arial"/>
                <a:ea typeface="Arial"/>
                <a:cs typeface="Arial"/>
              </a:rPr>
              <a:t>papers reviewed</a:t>
            </a:r>
          </a:p>
        </p:txBody>
      </p:sp>
      <p:sp>
        <p:nvSpPr>
          <p:cNvPr id="7" name="">
            <a:extLst xmlns:a="http://schemas.openxmlformats.org/drawingml/2006/main">
              <a:ext uri="{FF2B5EF4-FFF2-40B4-BE49-F238E27FC236}">
                <a16:creationId xmlns:a16="http://schemas.microsoft.com/office/drawing/2014/main" id="{A961A77D-B3C5-440C-8835-4B217FD64BC4}"/>
              </a:ext>
            </a:extLst>
          </p:cNvPr>
          <p:cNvSpPr>
            <a:spLocks xmlns:a="http://schemas.openxmlformats.org/drawingml/2006/main" noGrp="1"/>
          </p:cNvSpPr>
          <p:nvPr/>
        </p:nvSpPr>
        <p:spPr>
          <a:xfrm xmlns:a="http://schemas.openxmlformats.org/drawingml/2006/main">
            <a:off x="742950" y="3009900"/>
            <a:ext cx="30003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D2925"/>
                </a:solidFill>
                <a:latin typeface="Arial"/>
                <a:ea typeface="Arial"/>
                <a:cs typeface="Arial"/>
              </a:defRPr>
            </a:defPPr>
          </a:lstStyle>
          <a:p xmlns:a="http://schemas.openxmlformats.org/drawingml/2006/main">
            <a:pPr>
              <a:defRPr sz="1500" b="0">
                <a:solidFill>
                  <a:srgbClr val="1D2925"/>
                </a:solidFill>
                <a:latin typeface="Arial"/>
                <a:ea typeface="Arial"/>
                <a:cs typeface="Arial"/>
              </a:defRPr>
            </a:pPr>
            <a:r>
              <a:rPr sz="1500" b="0">
                <a:solidFill>
                  <a:srgbClr val="1D2925"/>
                </a:solidFill>
                <a:latin typeface="Arial"/>
                <a:ea typeface="Arial"/>
                <a:cs typeface="Arial"/>
              </a:rPr>
              <a:t>Approaches span custom CNNs, transfer learning, lightweight networks, attention, transformers, and explanations.</a:t>
            </a:r>
          </a:p>
        </p:txBody>
      </p:sp>
      <p:sp>
        <p:nvSpPr>
          <p:cNvPr id="8" name="">
            <a:extLst xmlns:a="http://schemas.openxmlformats.org/drawingml/2006/main">
              <a:ext uri="{FF2B5EF4-FFF2-40B4-BE49-F238E27FC236}">
                <a16:creationId xmlns:a16="http://schemas.microsoft.com/office/drawing/2014/main" id="{7706F193-5D40-423B-B449-23207FA89912}"/>
              </a:ext>
            </a:extLst>
          </p:cNvPr>
          <p:cNvSpPr>
            <a:spLocks xmlns:a="http://schemas.openxmlformats.org/drawingml/2006/main" noGrp="1"/>
          </p:cNvSpPr>
          <p:nvPr/>
        </p:nvSpPr>
        <p:spPr>
          <a:xfrm xmlns:a="http://schemas.openxmlformats.org/drawingml/2006/main">
            <a:off x="4048125" y="1885950"/>
            <a:ext cx="19050" cy="37147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F516084-0096-423A-999E-858A5014C8F7}"/>
              </a:ext>
            </a:extLst>
          </p:cNvPr>
          <p:cNvSpPr>
            <a:spLocks xmlns:a="http://schemas.openxmlformats.org/drawingml/2006/main" noGrp="1"/>
          </p:cNvSpPr>
          <p:nvPr/>
        </p:nvSpPr>
        <p:spPr>
          <a:xfrm xmlns:a="http://schemas.openxmlformats.org/drawingml/2006/main">
            <a:off x="4438650" y="1981200"/>
            <a:ext cx="247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225" b="1">
                <a:solidFill>
                  <a:srgbClr val="173F35"/>
                </a:solidFill>
                <a:latin typeface="Arial"/>
                <a:ea typeface="Arial"/>
                <a:cs typeface="Arial"/>
              </a:defRPr>
            </a:defPPr>
          </a:lstStyle>
          <a:p xmlns:a="http://schemas.openxmlformats.org/drawingml/2006/main">
            <a:pPr>
              <a:defRPr sz="3225" b="1">
                <a:solidFill>
                  <a:srgbClr val="173F35"/>
                </a:solidFill>
                <a:latin typeface="Arial"/>
                <a:ea typeface="Arial"/>
                <a:cs typeface="Arial"/>
              </a:defRPr>
            </a:pPr>
            <a:r>
              <a:rPr sz="3225" b="1">
                <a:solidFill>
                  <a:srgbClr val="173F35"/>
                </a:solidFill>
                <a:latin typeface="Arial"/>
                <a:ea typeface="Arial"/>
                <a:cs typeface="Arial"/>
              </a:rPr>
              <a:t>99.35%</a:t>
            </a:r>
          </a:p>
        </p:txBody>
      </p:sp>
      <p:sp>
        <p:nvSpPr>
          <p:cNvPr id="10" name="">
            <a:extLst xmlns:a="http://schemas.openxmlformats.org/drawingml/2006/main">
              <a:ext uri="{FF2B5EF4-FFF2-40B4-BE49-F238E27FC236}">
                <a16:creationId xmlns:a16="http://schemas.microsoft.com/office/drawing/2014/main" id="{8A4A60F0-853F-4C76-96F8-B982B4459D3E}"/>
              </a:ext>
            </a:extLst>
          </p:cNvPr>
          <p:cNvSpPr>
            <a:spLocks xmlns:a="http://schemas.openxmlformats.org/drawingml/2006/main" noGrp="1"/>
          </p:cNvSpPr>
          <p:nvPr/>
        </p:nvSpPr>
        <p:spPr>
          <a:xfrm xmlns:a="http://schemas.openxmlformats.org/drawingml/2006/main">
            <a:off x="4457700" y="26289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61716A"/>
                </a:solidFill>
                <a:latin typeface="Arial"/>
                <a:ea typeface="Arial"/>
                <a:cs typeface="Arial"/>
              </a:defRPr>
            </a:defPPr>
          </a:lstStyle>
          <a:p xmlns:a="http://schemas.openxmlformats.org/drawingml/2006/main">
            <a:pPr>
              <a:defRPr sz="1200" b="0">
                <a:solidFill>
                  <a:srgbClr val="61716A"/>
                </a:solidFill>
                <a:latin typeface="Arial"/>
                <a:ea typeface="Arial"/>
                <a:cs typeface="Arial"/>
              </a:defRPr>
            </a:pPr>
            <a:r>
              <a:rPr sz="1200" b="0">
                <a:solidFill>
                  <a:srgbClr val="61716A"/>
                </a:solidFill>
                <a:latin typeface="Arial"/>
                <a:ea typeface="Arial"/>
                <a:cs typeface="Arial"/>
              </a:rPr>
              <a:t>Mohanty et al., PlantVillage held-out test</a:t>
            </a:r>
          </a:p>
        </p:txBody>
      </p:sp>
      <p:sp>
        <p:nvSpPr>
          <p:cNvPr id="11" name="">
            <a:extLst xmlns:a="http://schemas.openxmlformats.org/drawingml/2006/main">
              <a:ext uri="{FF2B5EF4-FFF2-40B4-BE49-F238E27FC236}">
                <a16:creationId xmlns:a16="http://schemas.microsoft.com/office/drawing/2014/main" id="{5E8C4E4C-7C4A-42D3-8751-3163A7B0E8BB}"/>
              </a:ext>
            </a:extLst>
          </p:cNvPr>
          <p:cNvSpPr>
            <a:spLocks xmlns:a="http://schemas.openxmlformats.org/drawingml/2006/main" noGrp="1"/>
          </p:cNvSpPr>
          <p:nvPr/>
        </p:nvSpPr>
        <p:spPr>
          <a:xfrm xmlns:a="http://schemas.openxmlformats.org/drawingml/2006/main">
            <a:off x="8048625" y="198120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225" b="1">
                <a:solidFill>
                  <a:srgbClr val="D87942"/>
                </a:solidFill>
                <a:latin typeface="Arial"/>
                <a:ea typeface="Arial"/>
                <a:cs typeface="Arial"/>
              </a:defRPr>
            </a:defPPr>
          </a:lstStyle>
          <a:p xmlns:a="http://schemas.openxmlformats.org/drawingml/2006/main">
            <a:pPr>
              <a:defRPr sz="3225" b="1">
                <a:solidFill>
                  <a:srgbClr val="D87942"/>
                </a:solidFill>
                <a:latin typeface="Arial"/>
                <a:ea typeface="Arial"/>
                <a:cs typeface="Arial"/>
              </a:defRPr>
            </a:pPr>
            <a:r>
              <a:rPr sz="3225" b="1">
                <a:solidFill>
                  <a:srgbClr val="D87942"/>
                </a:solidFill>
                <a:latin typeface="Arial"/>
                <a:ea typeface="Arial"/>
                <a:cs typeface="Arial"/>
              </a:rPr>
              <a:t>31.4%</a:t>
            </a:r>
          </a:p>
        </p:txBody>
      </p:sp>
      <p:sp>
        <p:nvSpPr>
          <p:cNvPr id="12" name="">
            <a:extLst xmlns:a="http://schemas.openxmlformats.org/drawingml/2006/main">
              <a:ext uri="{FF2B5EF4-FFF2-40B4-BE49-F238E27FC236}">
                <a16:creationId xmlns:a16="http://schemas.microsoft.com/office/drawing/2014/main" id="{BEA54BB1-1709-4662-A45E-0435F141FD58}"/>
              </a:ext>
            </a:extLst>
          </p:cNvPr>
          <p:cNvSpPr>
            <a:spLocks xmlns:a="http://schemas.openxmlformats.org/drawingml/2006/main" noGrp="1"/>
          </p:cNvSpPr>
          <p:nvPr/>
        </p:nvSpPr>
        <p:spPr>
          <a:xfrm xmlns:a="http://schemas.openxmlformats.org/drawingml/2006/main">
            <a:off x="8067675" y="2628900"/>
            <a:ext cx="3190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61716A"/>
                </a:solidFill>
                <a:latin typeface="Arial"/>
                <a:ea typeface="Arial"/>
                <a:cs typeface="Arial"/>
              </a:defRPr>
            </a:defPPr>
          </a:lstStyle>
          <a:p xmlns:a="http://schemas.openxmlformats.org/drawingml/2006/main">
            <a:pPr>
              <a:defRPr sz="1200" b="0">
                <a:solidFill>
                  <a:srgbClr val="61716A"/>
                </a:solidFill>
                <a:latin typeface="Arial"/>
                <a:ea typeface="Arial"/>
                <a:cs typeface="Arial"/>
              </a:defRPr>
            </a:pPr>
            <a:r>
              <a:rPr sz="1200" b="0">
                <a:solidFill>
                  <a:srgbClr val="61716A"/>
                </a:solidFill>
                <a:latin typeface="Arial"/>
                <a:ea typeface="Arial"/>
                <a:cs typeface="Arial"/>
              </a:rPr>
              <a:t>Same paper’s separate images from other sources</a:t>
            </a:r>
          </a:p>
        </p:txBody>
      </p:sp>
      <p:sp>
        <p:nvSpPr>
          <p:cNvPr id="13" name="">
            <a:extLst xmlns:a="http://schemas.openxmlformats.org/drawingml/2006/main">
              <a:ext uri="{FF2B5EF4-FFF2-40B4-BE49-F238E27FC236}">
                <a16:creationId xmlns:a16="http://schemas.microsoft.com/office/drawing/2014/main" id="{CB1E3585-B5DE-4FC0-9C74-9C4A0E1CC3CE}"/>
              </a:ext>
            </a:extLst>
          </p:cNvPr>
          <p:cNvSpPr>
            <a:spLocks xmlns:a="http://schemas.openxmlformats.org/drawingml/2006/main" noGrp="1"/>
          </p:cNvSpPr>
          <p:nvPr/>
        </p:nvSpPr>
        <p:spPr>
          <a:xfrm xmlns:a="http://schemas.openxmlformats.org/drawingml/2006/main">
            <a:off x="4438650" y="3257550"/>
            <a:ext cx="681990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E42185E-D6D2-447A-B52A-DF76FBBDA190}"/>
              </a:ext>
            </a:extLst>
          </p:cNvPr>
          <p:cNvSpPr>
            <a:spLocks xmlns:a="http://schemas.openxmlformats.org/drawingml/2006/main" noGrp="1"/>
          </p:cNvSpPr>
          <p:nvPr/>
        </p:nvSpPr>
        <p:spPr>
          <a:xfrm xmlns:a="http://schemas.openxmlformats.org/drawingml/2006/main">
            <a:off x="4438650" y="3429000"/>
            <a:ext cx="676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D2925"/>
                </a:solidFill>
                <a:latin typeface="Arial"/>
                <a:ea typeface="Arial"/>
                <a:cs typeface="Arial"/>
              </a:defRPr>
            </a:defPPr>
          </a:lstStyle>
          <a:p xmlns:a="http://schemas.openxmlformats.org/drawingml/2006/main">
            <a:pPr>
              <a:defRPr sz="1425" b="1">
                <a:solidFill>
                  <a:srgbClr val="1D2925"/>
                </a:solidFill>
                <a:latin typeface="Arial"/>
                <a:ea typeface="Arial"/>
                <a:cs typeface="Arial"/>
              </a:defRPr>
            </a:pPr>
            <a:r>
              <a:rPr sz="1425" b="1">
                <a:solidFill>
                  <a:srgbClr val="1D2925"/>
                </a:solidFill>
                <a:latin typeface="Arial"/>
                <a:ea typeface="Arial"/>
                <a:cs typeface="Arial"/>
              </a:rPr>
              <a:t>The two scores use different image sources. Read them as a domain-gap signal, not as a direct head-to-head result.</a:t>
            </a:r>
          </a:p>
        </p:txBody>
      </p:sp>
      <p:sp>
        <p:nvSpPr>
          <p:cNvPr id="15" name="">
            <a:extLst xmlns:a="http://schemas.openxmlformats.org/drawingml/2006/main">
              <a:ext uri="{FF2B5EF4-FFF2-40B4-BE49-F238E27FC236}">
                <a16:creationId xmlns:a16="http://schemas.microsoft.com/office/drawing/2014/main" id="{6546F60F-B5F3-4B22-8F7D-58CF2A8A3489}"/>
              </a:ext>
            </a:extLst>
          </p:cNvPr>
          <p:cNvSpPr>
            <a:spLocks xmlns:a="http://schemas.openxmlformats.org/drawingml/2006/main" noGrp="1"/>
          </p:cNvSpPr>
          <p:nvPr/>
        </p:nvSpPr>
        <p:spPr>
          <a:xfrm xmlns:a="http://schemas.openxmlformats.org/drawingml/2006/main">
            <a:off x="742950" y="4419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73F35"/>
                </a:solidFill>
                <a:latin typeface="Arial"/>
                <a:ea typeface="Arial"/>
                <a:cs typeface="Arial"/>
              </a:defRPr>
            </a:defPPr>
          </a:lstStyle>
          <a:p xmlns:a="http://schemas.openxmlformats.org/drawingml/2006/main">
            <a:pPr>
              <a:defRPr sz="1500" b="1">
                <a:solidFill>
                  <a:srgbClr val="173F35"/>
                </a:solidFill>
                <a:latin typeface="Arial"/>
                <a:ea typeface="Arial"/>
                <a:cs typeface="Arial"/>
              </a:defRPr>
            </a:pPr>
            <a:r>
              <a:rPr sz="1500" b="1">
                <a:solidFill>
                  <a:srgbClr val="173F35"/>
                </a:solidFill>
                <a:latin typeface="Arial"/>
                <a:ea typeface="Arial"/>
                <a:cs typeface="Arial"/>
              </a:rPr>
              <a:t>What the survey adds</a:t>
            </a:r>
          </a:p>
        </p:txBody>
      </p:sp>
      <p:sp>
        <p:nvSpPr>
          <p:cNvPr id="16" name="">
            <a:extLst xmlns:a="http://schemas.openxmlformats.org/drawingml/2006/main">
              <a:ext uri="{FF2B5EF4-FFF2-40B4-BE49-F238E27FC236}">
                <a16:creationId xmlns:a16="http://schemas.microsoft.com/office/drawing/2014/main" id="{F5FC9C81-B993-4C30-903A-24CF50045A7F}"/>
              </a:ext>
            </a:extLst>
          </p:cNvPr>
          <p:cNvSpPr>
            <a:spLocks xmlns:a="http://schemas.openxmlformats.org/drawingml/2006/main" noGrp="1"/>
          </p:cNvSpPr>
          <p:nvPr/>
        </p:nvSpPr>
        <p:spPr>
          <a:xfrm xmlns:a="http://schemas.openxmlformats.org/drawingml/2006/main">
            <a:off x="742950" y="4819650"/>
            <a:ext cx="104775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D2925"/>
                </a:solidFill>
                <a:latin typeface="Arial"/>
                <a:ea typeface="Arial"/>
                <a:cs typeface="Arial"/>
              </a:defRPr>
            </a:defPPr>
          </a:lstStyle>
          <a:p xmlns:a="http://schemas.openxmlformats.org/drawingml/2006/main">
            <a:pPr>
              <a:defRPr sz="1350" b="0">
                <a:solidFill>
                  <a:srgbClr val="1D2925"/>
                </a:solidFill>
                <a:latin typeface="Arial"/>
                <a:ea typeface="Arial"/>
                <a:cs typeface="Arial"/>
              </a:defRPr>
            </a:pPr>
            <a:r>
              <a:rPr sz="1350" b="0">
                <a:solidFill>
                  <a:srgbClr val="1D2925"/>
                </a:solidFill>
                <a:latin typeface="Arial"/>
                <a:ea typeface="Arial"/>
                <a:cs typeface="Arial"/>
              </a:rPr>
              <a:t>Field photos expose background and lighting variation.</a:t>
            </a:r>
          </a:p>
          <a:p xmlns:a="http://schemas.openxmlformats.org/drawingml/2006/main">
            <a:pPr>
              <a:defRPr sz="1350" b="0">
                <a:solidFill>
                  <a:srgbClr val="1D2925"/>
                </a:solidFill>
                <a:latin typeface="Arial"/>
                <a:ea typeface="Arial"/>
                <a:cs typeface="Arial"/>
              </a:defRPr>
            </a:pPr>
            <a:r>
              <a:rPr sz="1350" b="0">
                <a:solidFill>
                  <a:srgbClr val="1D2925"/>
                </a:solidFill>
                <a:latin typeface="Arial"/>
                <a:ea typeface="Arial"/>
                <a:cs typeface="Arial"/>
              </a:rPr>
              <a:t>Smaller models target phones and edge devices.</a:t>
            </a:r>
          </a:p>
          <a:p xmlns:a="http://schemas.openxmlformats.org/drawingml/2006/main">
            <a:pPr>
              <a:defRPr sz="1350" b="0">
                <a:solidFill>
                  <a:srgbClr val="1D2925"/>
                </a:solidFill>
                <a:latin typeface="Arial"/>
                <a:ea typeface="Arial"/>
                <a:cs typeface="Arial"/>
              </a:defRPr>
            </a:pPr>
            <a:r>
              <a:rPr sz="1350" b="0">
                <a:solidFill>
                  <a:srgbClr val="1D2925"/>
                </a:solidFill>
                <a:latin typeface="Arial"/>
                <a:ea typeface="Arial"/>
                <a:cs typeface="Arial"/>
              </a:rPr>
              <a:t>Macro and class-level measures expose weak classes.</a:t>
            </a:r>
          </a:p>
          <a:p xmlns:a="http://schemas.openxmlformats.org/drawingml/2006/main">
            <a:pPr>
              <a:defRPr sz="1350" b="0">
                <a:solidFill>
                  <a:srgbClr val="1D2925"/>
                </a:solidFill>
                <a:latin typeface="Arial"/>
                <a:ea typeface="Arial"/>
                <a:cs typeface="Arial"/>
              </a:defRPr>
            </a:pPr>
            <a:r>
              <a:rPr sz="1350" b="0">
                <a:solidFill>
                  <a:srgbClr val="1D2925"/>
                </a:solidFill>
                <a:latin typeface="Arial"/>
                <a:ea typeface="Arial"/>
                <a:cs typeface="Arial"/>
              </a:rPr>
              <a:t>Heatmaps can support review, but do not prove correctness.</a:t>
            </a:r>
          </a:p>
        </p:txBody>
      </p:sp>
      <p:sp>
        <p:nvSpPr>
          <p:cNvPr id="17" name="">
            <a:extLst xmlns:a="http://schemas.openxmlformats.org/drawingml/2006/main">
              <a:ext uri="{FF2B5EF4-FFF2-40B4-BE49-F238E27FC236}">
                <a16:creationId xmlns:a16="http://schemas.microsoft.com/office/drawing/2014/main" id="{F7D21076-ABA1-4D6E-B23B-DD4636BF59FE}"/>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80BDA07-608C-4EEF-9721-B2A7E7DFEC3D}"/>
              </a:ext>
            </a:extLst>
          </p:cNvPr>
          <p:cNvSpPr>
            <a:spLocks xmlns:a="http://schemas.openxmlformats.org/drawingml/2006/main" noGrp="1"/>
          </p:cNvSpPr>
          <p:nvPr/>
        </p:nvSpPr>
        <p:spPr>
          <a:xfrm xmlns:a="http://schemas.openxmlformats.org/drawingml/2006/main">
            <a:off x="685800" y="65436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61716A"/>
                </a:solidFill>
                <a:latin typeface="Arial"/>
                <a:ea typeface="Arial"/>
                <a:cs typeface="Arial"/>
              </a:defRPr>
            </a:defPPr>
          </a:lstStyle>
          <a:p xmlns:a="http://schemas.openxmlformats.org/drawingml/2006/main">
            <a:pPr>
              <a:defRPr sz="825" b="1">
                <a:solidFill>
                  <a:srgbClr val="61716A"/>
                </a:solidFill>
                <a:latin typeface="Arial"/>
                <a:ea typeface="Arial"/>
                <a:cs typeface="Arial"/>
              </a:defRPr>
            </a:pPr>
            <a:r>
              <a:rPr sz="825" b="1">
                <a:solidFill>
                  <a:srgbClr val="61716A"/>
                </a:solidFill>
                <a:latin typeface="Arial"/>
                <a:ea typeface="Arial"/>
                <a:cs typeface="Arial"/>
              </a:rPr>
              <a:t>LITERATURE AND EVALUATION GAP</a:t>
            </a:r>
          </a:p>
        </p:txBody>
      </p:sp>
      <p:sp>
        <p:nvSpPr>
          <p:cNvPr id="19" name="">
            <a:extLst xmlns:a="http://schemas.openxmlformats.org/drawingml/2006/main">
              <a:ext uri="{FF2B5EF4-FFF2-40B4-BE49-F238E27FC236}">
                <a16:creationId xmlns:a16="http://schemas.microsoft.com/office/drawing/2014/main" id="{0B9798EA-9951-42BF-834C-9AFE7D22BE9E}"/>
              </a:ext>
            </a:extLst>
          </p:cNvPr>
          <p:cNvSpPr>
            <a:spLocks xmlns:a="http://schemas.openxmlformats.org/drawingml/2006/main" noGrp="1"/>
          </p:cNvSpPr>
          <p:nvPr/>
        </p:nvSpPr>
        <p:spPr>
          <a:xfrm xmlns:a="http://schemas.openxmlformats.org/drawingml/2006/main">
            <a:off x="10953750" y="65246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F6B54"/>
                </a:solidFill>
                <a:latin typeface="Arial"/>
                <a:ea typeface="Arial"/>
                <a:cs typeface="Arial"/>
              </a:defRPr>
            </a:defPPr>
          </a:lstStyle>
          <a:p xmlns:a="http://schemas.openxmlformats.org/drawingml/2006/main">
            <a:pPr>
              <a:defRPr sz="975" b="1">
                <a:solidFill>
                  <a:srgbClr val="2F6B54"/>
                </a:solidFill>
                <a:latin typeface="Arial"/>
                <a:ea typeface="Arial"/>
                <a:cs typeface="Arial"/>
              </a:defRPr>
            </a:pPr>
            <a:r>
              <a:rPr sz="975" b="1">
                <a:solidFill>
                  <a:srgbClr val="2F6B54"/>
                </a:solidFill>
                <a:latin typeface="Arial"/>
                <a:ea typeface="Arial"/>
                <a:cs typeface="Arial"/>
              </a:rPr>
              <a:t>02</a:t>
            </a:r>
          </a:p>
        </p:txBody>
      </p:sp>
    </p:spTree>
    <p:extLst>
      <p:ext uri="{BB962C8B-B14F-4D97-AF65-F5344CB8AC3E}">
        <p14:creationId xmlns:p14="http://schemas.microsoft.com/office/powerpoint/2010/main" val="1330939729"/>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DE064CF-3DC1-44A9-A253-24104293503D}"/>
              </a:ext>
            </a:extLst>
          </p:cNvPr>
          <p:cNvSpPr>
            <a:spLocks xmlns:a="http://schemas.openxmlformats.org/drawingml/2006/main" noGrp="1"/>
          </p:cNvSpPr>
          <p:nvPr/>
        </p:nvSpPr>
        <p:spPr>
          <a:xfrm xmlns:a="http://schemas.openxmlformats.org/drawingml/2006/main">
            <a:off x="685800" y="3238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02  METHOD CHOICES</a:t>
            </a:r>
          </a:p>
        </p:txBody>
      </p:sp>
      <p:sp>
        <p:nvSpPr>
          <p:cNvPr id="2" name="">
            <a:extLst xmlns:a="http://schemas.openxmlformats.org/drawingml/2006/main">
              <a:ext uri="{FF2B5EF4-FFF2-40B4-BE49-F238E27FC236}">
                <a16:creationId xmlns:a16="http://schemas.microsoft.com/office/drawing/2014/main" id="{C3FBF795-068C-4054-ABB5-5922A450BBB6}"/>
              </a:ext>
            </a:extLst>
          </p:cNvPr>
          <p:cNvSpPr>
            <a:spLocks xmlns:a="http://schemas.openxmlformats.org/drawingml/2006/main" noGrp="1"/>
          </p:cNvSpPr>
          <p:nvPr/>
        </p:nvSpPr>
        <p:spPr>
          <a:xfrm xmlns:a="http://schemas.openxmlformats.org/drawingml/2006/main">
            <a:off x="685800" y="638175"/>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150" b="1">
                <a:solidFill>
                  <a:srgbClr val="173F35"/>
                </a:solidFill>
                <a:latin typeface="Arial"/>
                <a:ea typeface="Arial"/>
                <a:cs typeface="Arial"/>
              </a:defRPr>
            </a:defPPr>
          </a:lstStyle>
          <a:p xmlns:a="http://schemas.openxmlformats.org/drawingml/2006/main">
            <a:pPr>
              <a:defRPr sz="3150" b="1">
                <a:solidFill>
                  <a:srgbClr val="173F35"/>
                </a:solidFill>
                <a:latin typeface="Arial"/>
                <a:ea typeface="Arial"/>
                <a:cs typeface="Arial"/>
              </a:defRPr>
            </a:pPr>
            <a:r>
              <a:rPr sz="3150" b="1">
                <a:solidFill>
                  <a:srgbClr val="173F35"/>
                </a:solidFill>
                <a:latin typeface="Arial"/>
                <a:ea typeface="Arial"/>
                <a:cs typeface="Arial"/>
              </a:rPr>
              <a:t>Phase 2 controls the main evaluation risks</a:t>
            </a:r>
          </a:p>
        </p:txBody>
      </p:sp>
      <p:sp>
        <p:nvSpPr>
          <p:cNvPr id="3" name="">
            <a:extLst xmlns:a="http://schemas.openxmlformats.org/drawingml/2006/main">
              <a:ext uri="{FF2B5EF4-FFF2-40B4-BE49-F238E27FC236}">
                <a16:creationId xmlns:a16="http://schemas.microsoft.com/office/drawing/2014/main" id="{73357F07-9C73-4D0D-8260-91DAC65A5D89}"/>
              </a:ext>
            </a:extLst>
          </p:cNvPr>
          <p:cNvSpPr>
            <a:spLocks xmlns:a="http://schemas.openxmlformats.org/drawingml/2006/main" noGrp="1"/>
          </p:cNvSpPr>
          <p:nvPr/>
        </p:nvSpPr>
        <p:spPr>
          <a:xfrm xmlns:a="http://schemas.openxmlformats.org/drawingml/2006/main">
            <a:off x="704850" y="1171575"/>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61716A"/>
                </a:solidFill>
                <a:latin typeface="Arial"/>
                <a:ea typeface="Arial"/>
                <a:cs typeface="Arial"/>
              </a:defRPr>
            </a:defPPr>
          </a:lstStyle>
          <a:p xmlns:a="http://schemas.openxmlformats.org/drawingml/2006/main">
            <a:pPr>
              <a:defRPr sz="1350" b="0">
                <a:solidFill>
                  <a:srgbClr val="61716A"/>
                </a:solidFill>
                <a:latin typeface="Arial"/>
                <a:ea typeface="Arial"/>
                <a:cs typeface="Arial"/>
              </a:defRPr>
            </a:pPr>
            <a:r>
              <a:rPr sz="1350" b="0">
                <a:solidFill>
                  <a:srgbClr val="61716A"/>
                </a:solidFill>
                <a:latin typeface="Arial"/>
                <a:ea typeface="Arial"/>
                <a:cs typeface="Arial"/>
              </a:rPr>
              <a:t>The project starts with a simple model and makes the evaluation protocol visible.</a:t>
            </a:r>
          </a:p>
        </p:txBody>
      </p:sp>
      <p:sp>
        <p:nvSpPr>
          <p:cNvPr id="4" name="">
            <a:extLst xmlns:a="http://schemas.openxmlformats.org/drawingml/2006/main">
              <a:ext uri="{FF2B5EF4-FFF2-40B4-BE49-F238E27FC236}">
                <a16:creationId xmlns:a16="http://schemas.microsoft.com/office/drawing/2014/main" id="{607C86F7-E076-4AC0-95E5-48E184B6744C}"/>
              </a:ext>
            </a:extLst>
          </p:cNvPr>
          <p:cNvSpPr>
            <a:spLocks xmlns:a="http://schemas.openxmlformats.org/drawingml/2006/main" noGrp="1"/>
          </p:cNvSpPr>
          <p:nvPr/>
        </p:nvSpPr>
        <p:spPr>
          <a:xfrm xmlns:a="http://schemas.openxmlformats.org/drawingml/2006/main">
            <a:off x="685800" y="1581150"/>
            <a:ext cx="1082040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7461F68-214A-4335-93B5-9A021B7DEB58}"/>
              </a:ext>
            </a:extLst>
          </p:cNvPr>
          <p:cNvSpPr>
            <a:spLocks xmlns:a="http://schemas.openxmlformats.org/drawingml/2006/main" noGrp="1"/>
          </p:cNvSpPr>
          <p:nvPr/>
        </p:nvSpPr>
        <p:spPr>
          <a:xfrm xmlns:a="http://schemas.openxmlformats.org/drawingml/2006/main">
            <a:off x="781050" y="18669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1716A"/>
                </a:solidFill>
                <a:latin typeface="Arial"/>
                <a:ea typeface="Arial"/>
                <a:cs typeface="Arial"/>
              </a:defRPr>
            </a:defPPr>
          </a:lstStyle>
          <a:p xmlns:a="http://schemas.openxmlformats.org/drawingml/2006/main">
            <a:pPr>
              <a:defRPr sz="975" b="1">
                <a:solidFill>
                  <a:srgbClr val="61716A"/>
                </a:solidFill>
                <a:latin typeface="Arial"/>
                <a:ea typeface="Arial"/>
                <a:cs typeface="Arial"/>
              </a:defRPr>
            </a:pPr>
            <a:r>
              <a:rPr sz="975" b="1">
                <a:solidFill>
                  <a:srgbClr val="61716A"/>
                </a:solidFill>
                <a:latin typeface="Arial"/>
                <a:ea typeface="Arial"/>
                <a:cs typeface="Arial"/>
              </a:rPr>
              <a:t>LITERATURE CONCERN</a:t>
            </a:r>
          </a:p>
        </p:txBody>
      </p:sp>
      <p:sp>
        <p:nvSpPr>
          <p:cNvPr id="6" name="">
            <a:extLst xmlns:a="http://schemas.openxmlformats.org/drawingml/2006/main">
              <a:ext uri="{FF2B5EF4-FFF2-40B4-BE49-F238E27FC236}">
                <a16:creationId xmlns:a16="http://schemas.microsoft.com/office/drawing/2014/main" id="{833C2F81-5019-4051-B52B-4A1CF2F29C57}"/>
              </a:ext>
            </a:extLst>
          </p:cNvPr>
          <p:cNvSpPr>
            <a:spLocks xmlns:a="http://schemas.openxmlformats.org/drawingml/2006/main" noGrp="1"/>
          </p:cNvSpPr>
          <p:nvPr/>
        </p:nvSpPr>
        <p:spPr>
          <a:xfrm xmlns:a="http://schemas.openxmlformats.org/drawingml/2006/main">
            <a:off x="3905250" y="1866900"/>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1716A"/>
                </a:solidFill>
                <a:latin typeface="Arial"/>
                <a:ea typeface="Arial"/>
                <a:cs typeface="Arial"/>
              </a:defRPr>
            </a:defPPr>
          </a:lstStyle>
          <a:p xmlns:a="http://schemas.openxmlformats.org/drawingml/2006/main">
            <a:pPr>
              <a:defRPr sz="975" b="1">
                <a:solidFill>
                  <a:srgbClr val="61716A"/>
                </a:solidFill>
                <a:latin typeface="Arial"/>
                <a:ea typeface="Arial"/>
                <a:cs typeface="Arial"/>
              </a:defRPr>
            </a:pPr>
            <a:r>
              <a:rPr sz="975" b="1">
                <a:solidFill>
                  <a:srgbClr val="61716A"/>
                </a:solidFill>
                <a:latin typeface="Arial"/>
                <a:ea typeface="Arial"/>
                <a:cs typeface="Arial"/>
              </a:rPr>
              <a:t>PROJECT RESPONSE</a:t>
            </a:r>
          </a:p>
        </p:txBody>
      </p:sp>
      <p:sp>
        <p:nvSpPr>
          <p:cNvPr id="7" name="">
            <a:extLst xmlns:a="http://schemas.openxmlformats.org/drawingml/2006/main">
              <a:ext uri="{FF2B5EF4-FFF2-40B4-BE49-F238E27FC236}">
                <a16:creationId xmlns:a16="http://schemas.microsoft.com/office/drawing/2014/main" id="{FE431BFC-221A-4DC3-83C2-9BAEBA672DF7}"/>
              </a:ext>
            </a:extLst>
          </p:cNvPr>
          <p:cNvSpPr>
            <a:spLocks xmlns:a="http://schemas.openxmlformats.org/drawingml/2006/main" noGrp="1"/>
          </p:cNvSpPr>
          <p:nvPr/>
        </p:nvSpPr>
        <p:spPr>
          <a:xfrm xmlns:a="http://schemas.openxmlformats.org/drawingml/2006/main">
            <a:off x="8172450" y="18669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1716A"/>
                </a:solidFill>
                <a:latin typeface="Arial"/>
                <a:ea typeface="Arial"/>
                <a:cs typeface="Arial"/>
              </a:defRPr>
            </a:defPPr>
          </a:lstStyle>
          <a:p xmlns:a="http://schemas.openxmlformats.org/drawingml/2006/main">
            <a:pPr>
              <a:defRPr sz="975" b="1">
                <a:solidFill>
                  <a:srgbClr val="61716A"/>
                </a:solidFill>
                <a:latin typeface="Arial"/>
                <a:ea typeface="Arial"/>
                <a:cs typeface="Arial"/>
              </a:defRPr>
            </a:pPr>
            <a:r>
              <a:rPr sz="975" b="1">
                <a:solidFill>
                  <a:srgbClr val="61716A"/>
                </a:solidFill>
                <a:latin typeface="Arial"/>
                <a:ea typeface="Arial"/>
                <a:cs typeface="Arial"/>
              </a:rPr>
              <a:t>STATUS</a:t>
            </a:r>
          </a:p>
        </p:txBody>
      </p:sp>
      <p:sp>
        <p:nvSpPr>
          <p:cNvPr id="8" name="">
            <a:extLst xmlns:a="http://schemas.openxmlformats.org/drawingml/2006/main">
              <a:ext uri="{FF2B5EF4-FFF2-40B4-BE49-F238E27FC236}">
                <a16:creationId xmlns:a16="http://schemas.microsoft.com/office/drawing/2014/main" id="{3660DA6E-95EE-4094-82C2-BE4081FE1E18}"/>
              </a:ext>
            </a:extLst>
          </p:cNvPr>
          <p:cNvSpPr>
            <a:spLocks xmlns:a="http://schemas.openxmlformats.org/drawingml/2006/main" noGrp="1"/>
          </p:cNvSpPr>
          <p:nvPr/>
        </p:nvSpPr>
        <p:spPr>
          <a:xfrm xmlns:a="http://schemas.openxmlformats.org/drawingml/2006/main">
            <a:off x="781050" y="2247900"/>
            <a:ext cx="2724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D2925"/>
                </a:solidFill>
                <a:latin typeface="Arial"/>
                <a:ea typeface="Arial"/>
                <a:cs typeface="Arial"/>
              </a:defRPr>
            </a:defPPr>
          </a:lstStyle>
          <a:p xmlns:a="http://schemas.openxmlformats.org/drawingml/2006/main">
            <a:pPr>
              <a:defRPr sz="1350" b="0">
                <a:solidFill>
                  <a:srgbClr val="1D2925"/>
                </a:solidFill>
                <a:latin typeface="Arial"/>
                <a:ea typeface="Arial"/>
                <a:cs typeface="Arial"/>
              </a:defRPr>
            </a:pPr>
            <a:r>
              <a:rPr sz="1350" b="0">
                <a:solidFill>
                  <a:srgbClr val="1D2925"/>
                </a:solidFill>
                <a:latin typeface="Arial"/>
                <a:ea typeface="Arial"/>
                <a:cs typeface="Arial"/>
              </a:rPr>
              <a:t>Near-duplicate images can inflate scores</a:t>
            </a:r>
          </a:p>
        </p:txBody>
      </p:sp>
      <p:sp>
        <p:nvSpPr>
          <p:cNvPr id="9" name="">
            <a:extLst xmlns:a="http://schemas.openxmlformats.org/drawingml/2006/main">
              <a:ext uri="{FF2B5EF4-FFF2-40B4-BE49-F238E27FC236}">
                <a16:creationId xmlns:a16="http://schemas.microsoft.com/office/drawing/2014/main" id="{3598F0D4-197A-456B-86C6-A94B5C9DB8BF}"/>
              </a:ext>
            </a:extLst>
          </p:cNvPr>
          <p:cNvSpPr>
            <a:spLocks xmlns:a="http://schemas.openxmlformats.org/drawingml/2006/main" noGrp="1"/>
          </p:cNvSpPr>
          <p:nvPr/>
        </p:nvSpPr>
        <p:spPr>
          <a:xfrm xmlns:a="http://schemas.openxmlformats.org/drawingml/2006/main">
            <a:off x="3905250" y="2247900"/>
            <a:ext cx="3952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Remove matching groups or hashes; freeze train, validation, and test manifests</a:t>
            </a:r>
          </a:p>
        </p:txBody>
      </p:sp>
      <p:sp>
        <p:nvSpPr>
          <p:cNvPr id="10" name="">
            <a:extLst xmlns:a="http://schemas.openxmlformats.org/drawingml/2006/main">
              <a:ext uri="{FF2B5EF4-FFF2-40B4-BE49-F238E27FC236}">
                <a16:creationId xmlns:a16="http://schemas.microsoft.com/office/drawing/2014/main" id="{FFACBC11-5E73-4DA0-BA37-E660A8D2312E}"/>
              </a:ext>
            </a:extLst>
          </p:cNvPr>
          <p:cNvSpPr>
            <a:spLocks xmlns:a="http://schemas.openxmlformats.org/drawingml/2006/main" noGrp="1"/>
          </p:cNvSpPr>
          <p:nvPr/>
        </p:nvSpPr>
        <p:spPr>
          <a:xfrm xmlns:a="http://schemas.openxmlformats.org/drawingml/2006/main">
            <a:off x="8172450" y="2362200"/>
            <a:ext cx="76200" cy="304800"/>
          </a:xfrm>
          <a:prstGeom xmlns:a="http://schemas.openxmlformats.org/drawingml/2006/main" prst="rect">
            <a:avLst/>
          </a:prstGeom>
          <a:solidFill xmlns:a="http://schemas.openxmlformats.org/drawingml/2006/main">
            <a:srgbClr val="2F6B5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D86E9A-7513-47F0-9257-D8CA57ACA38E}"/>
              </a:ext>
            </a:extLst>
          </p:cNvPr>
          <p:cNvSpPr>
            <a:spLocks xmlns:a="http://schemas.openxmlformats.org/drawingml/2006/main" noGrp="1"/>
          </p:cNvSpPr>
          <p:nvPr/>
        </p:nvSpPr>
        <p:spPr>
          <a:xfrm xmlns:a="http://schemas.openxmlformats.org/drawingml/2006/main">
            <a:off x="8362950" y="2362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DONE</a:t>
            </a:r>
          </a:p>
        </p:txBody>
      </p:sp>
      <p:sp>
        <p:nvSpPr>
          <p:cNvPr id="12" name="">
            <a:extLst xmlns:a="http://schemas.openxmlformats.org/drawingml/2006/main">
              <a:ext uri="{FF2B5EF4-FFF2-40B4-BE49-F238E27FC236}">
                <a16:creationId xmlns:a16="http://schemas.microsoft.com/office/drawing/2014/main" id="{23BE9B4B-417F-472D-A1B0-D1EB98B99B37}"/>
              </a:ext>
            </a:extLst>
          </p:cNvPr>
          <p:cNvSpPr>
            <a:spLocks xmlns:a="http://schemas.openxmlformats.org/drawingml/2006/main" noGrp="1"/>
          </p:cNvSpPr>
          <p:nvPr/>
        </p:nvSpPr>
        <p:spPr>
          <a:xfrm xmlns:a="http://schemas.openxmlformats.org/drawingml/2006/main">
            <a:off x="781050" y="2895600"/>
            <a:ext cx="1045845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F89AD6-ED35-421A-9DEF-579267B7122A}"/>
              </a:ext>
            </a:extLst>
          </p:cNvPr>
          <p:cNvSpPr>
            <a:spLocks xmlns:a="http://schemas.openxmlformats.org/drawingml/2006/main" noGrp="1"/>
          </p:cNvSpPr>
          <p:nvPr/>
        </p:nvSpPr>
        <p:spPr>
          <a:xfrm xmlns:a="http://schemas.openxmlformats.org/drawingml/2006/main">
            <a:off x="781050" y="3028950"/>
            <a:ext cx="2724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D2925"/>
                </a:solidFill>
                <a:latin typeface="Arial"/>
                <a:ea typeface="Arial"/>
                <a:cs typeface="Arial"/>
              </a:defRPr>
            </a:defPPr>
          </a:lstStyle>
          <a:p xmlns:a="http://schemas.openxmlformats.org/drawingml/2006/main">
            <a:pPr>
              <a:defRPr sz="1350" b="0">
                <a:solidFill>
                  <a:srgbClr val="1D2925"/>
                </a:solidFill>
                <a:latin typeface="Arial"/>
                <a:ea typeface="Arial"/>
                <a:cs typeface="Arial"/>
              </a:defRPr>
            </a:pPr>
            <a:r>
              <a:rPr sz="1350" b="0">
                <a:solidFill>
                  <a:srgbClr val="1D2925"/>
                </a:solidFill>
                <a:latin typeface="Arial"/>
                <a:ea typeface="Arial"/>
                <a:cs typeface="Arial"/>
              </a:rPr>
              <a:t>Accuracy can hide weak classes</a:t>
            </a:r>
          </a:p>
        </p:txBody>
      </p:sp>
      <p:sp>
        <p:nvSpPr>
          <p:cNvPr id="14" name="">
            <a:extLst xmlns:a="http://schemas.openxmlformats.org/drawingml/2006/main">
              <a:ext uri="{FF2B5EF4-FFF2-40B4-BE49-F238E27FC236}">
                <a16:creationId xmlns:a16="http://schemas.microsoft.com/office/drawing/2014/main" id="{FBC6961B-8561-45CC-B6A7-60BA3109BCD6}"/>
              </a:ext>
            </a:extLst>
          </p:cNvPr>
          <p:cNvSpPr>
            <a:spLocks xmlns:a="http://schemas.openxmlformats.org/drawingml/2006/main" noGrp="1"/>
          </p:cNvSpPr>
          <p:nvPr/>
        </p:nvSpPr>
        <p:spPr>
          <a:xfrm xmlns:a="http://schemas.openxmlformats.org/drawingml/2006/main">
            <a:off x="3905250" y="3028950"/>
            <a:ext cx="3952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Report macro-F1, balanced accuracy, per-class scores, and confusion matrix</a:t>
            </a:r>
          </a:p>
        </p:txBody>
      </p:sp>
      <p:sp>
        <p:nvSpPr>
          <p:cNvPr id="15" name="">
            <a:extLst xmlns:a="http://schemas.openxmlformats.org/drawingml/2006/main">
              <a:ext uri="{FF2B5EF4-FFF2-40B4-BE49-F238E27FC236}">
                <a16:creationId xmlns:a16="http://schemas.microsoft.com/office/drawing/2014/main" id="{22195C7D-C4E8-412F-A029-33C179CD7618}"/>
              </a:ext>
            </a:extLst>
          </p:cNvPr>
          <p:cNvSpPr>
            <a:spLocks xmlns:a="http://schemas.openxmlformats.org/drawingml/2006/main" noGrp="1"/>
          </p:cNvSpPr>
          <p:nvPr/>
        </p:nvSpPr>
        <p:spPr>
          <a:xfrm xmlns:a="http://schemas.openxmlformats.org/drawingml/2006/main">
            <a:off x="8172450" y="3143250"/>
            <a:ext cx="76200" cy="304800"/>
          </a:xfrm>
          <a:prstGeom xmlns:a="http://schemas.openxmlformats.org/drawingml/2006/main" prst="rect">
            <a:avLst/>
          </a:prstGeom>
          <a:solidFill xmlns:a="http://schemas.openxmlformats.org/drawingml/2006/main">
            <a:srgbClr val="2F6B5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E692D46-8695-4B53-AE79-D8E53A187CBA}"/>
              </a:ext>
            </a:extLst>
          </p:cNvPr>
          <p:cNvSpPr>
            <a:spLocks xmlns:a="http://schemas.openxmlformats.org/drawingml/2006/main" noGrp="1"/>
          </p:cNvSpPr>
          <p:nvPr/>
        </p:nvSpPr>
        <p:spPr>
          <a:xfrm xmlns:a="http://schemas.openxmlformats.org/drawingml/2006/main">
            <a:off x="8362950" y="3143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DONE</a:t>
            </a:r>
          </a:p>
        </p:txBody>
      </p:sp>
      <p:sp>
        <p:nvSpPr>
          <p:cNvPr id="17" name="">
            <a:extLst xmlns:a="http://schemas.openxmlformats.org/drawingml/2006/main">
              <a:ext uri="{FF2B5EF4-FFF2-40B4-BE49-F238E27FC236}">
                <a16:creationId xmlns:a16="http://schemas.microsoft.com/office/drawing/2014/main" id="{01AA1B0F-FA6F-47AE-A0B2-AC39F93D8C70}"/>
              </a:ext>
            </a:extLst>
          </p:cNvPr>
          <p:cNvSpPr>
            <a:spLocks xmlns:a="http://schemas.openxmlformats.org/drawingml/2006/main" noGrp="1"/>
          </p:cNvSpPr>
          <p:nvPr/>
        </p:nvSpPr>
        <p:spPr>
          <a:xfrm xmlns:a="http://schemas.openxmlformats.org/drawingml/2006/main">
            <a:off x="781050" y="3676650"/>
            <a:ext cx="1045845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E51738D-6812-4D3A-B6F7-4C76B64D9A4B}"/>
              </a:ext>
            </a:extLst>
          </p:cNvPr>
          <p:cNvSpPr>
            <a:spLocks xmlns:a="http://schemas.openxmlformats.org/drawingml/2006/main" noGrp="1"/>
          </p:cNvSpPr>
          <p:nvPr/>
        </p:nvSpPr>
        <p:spPr>
          <a:xfrm xmlns:a="http://schemas.openxmlformats.org/drawingml/2006/main">
            <a:off x="781050" y="3810000"/>
            <a:ext cx="2724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D2925"/>
                </a:solidFill>
                <a:latin typeface="Arial"/>
                <a:ea typeface="Arial"/>
                <a:cs typeface="Arial"/>
              </a:defRPr>
            </a:defPPr>
          </a:lstStyle>
          <a:p xmlns:a="http://schemas.openxmlformats.org/drawingml/2006/main">
            <a:pPr>
              <a:defRPr sz="1350" b="0">
                <a:solidFill>
                  <a:srgbClr val="1D2925"/>
                </a:solidFill>
                <a:latin typeface="Arial"/>
                <a:ea typeface="Arial"/>
                <a:cs typeface="Arial"/>
              </a:defRPr>
            </a:pPr>
            <a:r>
              <a:rPr sz="1350" b="0">
                <a:solidFill>
                  <a:srgbClr val="1D2925"/>
                </a:solidFill>
                <a:latin typeface="Arial"/>
                <a:ea typeface="Arial"/>
                <a:cs typeface="Arial"/>
              </a:rPr>
              <a:t>Complex models are hard to compare</a:t>
            </a:r>
          </a:p>
        </p:txBody>
      </p:sp>
      <p:sp>
        <p:nvSpPr>
          <p:cNvPr id="19" name="">
            <a:extLst xmlns:a="http://schemas.openxmlformats.org/drawingml/2006/main">
              <a:ext uri="{FF2B5EF4-FFF2-40B4-BE49-F238E27FC236}">
                <a16:creationId xmlns:a16="http://schemas.microsoft.com/office/drawing/2014/main" id="{F9DA9962-1558-4038-9580-5F66AA9EED93}"/>
              </a:ext>
            </a:extLst>
          </p:cNvPr>
          <p:cNvSpPr>
            <a:spLocks xmlns:a="http://schemas.openxmlformats.org/drawingml/2006/main" noGrp="1"/>
          </p:cNvSpPr>
          <p:nvPr/>
        </p:nvSpPr>
        <p:spPr>
          <a:xfrm xmlns:a="http://schemas.openxmlformats.org/drawingml/2006/main">
            <a:off x="3905250" y="3810000"/>
            <a:ext cx="3952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Establish a four-stage SmallCNN reference before adding attention or transformers</a:t>
            </a:r>
          </a:p>
        </p:txBody>
      </p:sp>
      <p:sp>
        <p:nvSpPr>
          <p:cNvPr id="20" name="">
            <a:extLst xmlns:a="http://schemas.openxmlformats.org/drawingml/2006/main">
              <a:ext uri="{FF2B5EF4-FFF2-40B4-BE49-F238E27FC236}">
                <a16:creationId xmlns:a16="http://schemas.microsoft.com/office/drawing/2014/main" id="{D844CFE7-4FCC-48CF-93DF-AAFC253982C9}"/>
              </a:ext>
            </a:extLst>
          </p:cNvPr>
          <p:cNvSpPr>
            <a:spLocks xmlns:a="http://schemas.openxmlformats.org/drawingml/2006/main" noGrp="1"/>
          </p:cNvSpPr>
          <p:nvPr/>
        </p:nvSpPr>
        <p:spPr>
          <a:xfrm xmlns:a="http://schemas.openxmlformats.org/drawingml/2006/main">
            <a:off x="8172450" y="3924300"/>
            <a:ext cx="76200" cy="304800"/>
          </a:xfrm>
          <a:prstGeom xmlns:a="http://schemas.openxmlformats.org/drawingml/2006/main" prst="rect">
            <a:avLst/>
          </a:prstGeom>
          <a:solidFill xmlns:a="http://schemas.openxmlformats.org/drawingml/2006/main">
            <a:srgbClr val="2F6B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85D008D-C2ED-4B5B-840E-9699F3869E53}"/>
              </a:ext>
            </a:extLst>
          </p:cNvPr>
          <p:cNvSpPr>
            <a:spLocks xmlns:a="http://schemas.openxmlformats.org/drawingml/2006/main" noGrp="1"/>
          </p:cNvSpPr>
          <p:nvPr/>
        </p:nvSpPr>
        <p:spPr>
          <a:xfrm xmlns:a="http://schemas.openxmlformats.org/drawingml/2006/main">
            <a:off x="8362950" y="39243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DONE</a:t>
            </a:r>
          </a:p>
        </p:txBody>
      </p:sp>
      <p:sp>
        <p:nvSpPr>
          <p:cNvPr id="22" name="">
            <a:extLst xmlns:a="http://schemas.openxmlformats.org/drawingml/2006/main">
              <a:ext uri="{FF2B5EF4-FFF2-40B4-BE49-F238E27FC236}">
                <a16:creationId xmlns:a16="http://schemas.microsoft.com/office/drawing/2014/main" id="{D026415B-02B6-41B1-927E-6D7EEA0CE317}"/>
              </a:ext>
            </a:extLst>
          </p:cNvPr>
          <p:cNvSpPr>
            <a:spLocks xmlns:a="http://schemas.openxmlformats.org/drawingml/2006/main" noGrp="1"/>
          </p:cNvSpPr>
          <p:nvPr/>
        </p:nvSpPr>
        <p:spPr>
          <a:xfrm xmlns:a="http://schemas.openxmlformats.org/drawingml/2006/main">
            <a:off x="781050" y="4457700"/>
            <a:ext cx="1045845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84A0E40-A4BA-434F-9271-FFC1AE78FF68}"/>
              </a:ext>
            </a:extLst>
          </p:cNvPr>
          <p:cNvSpPr>
            <a:spLocks xmlns:a="http://schemas.openxmlformats.org/drawingml/2006/main" noGrp="1"/>
          </p:cNvSpPr>
          <p:nvPr/>
        </p:nvSpPr>
        <p:spPr>
          <a:xfrm xmlns:a="http://schemas.openxmlformats.org/drawingml/2006/main">
            <a:off x="781050" y="4591050"/>
            <a:ext cx="2724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D2925"/>
                </a:solidFill>
                <a:latin typeface="Arial"/>
                <a:ea typeface="Arial"/>
                <a:cs typeface="Arial"/>
              </a:defRPr>
            </a:defPPr>
          </a:lstStyle>
          <a:p xmlns:a="http://schemas.openxmlformats.org/drawingml/2006/main">
            <a:pPr>
              <a:defRPr sz="1350" b="0">
                <a:solidFill>
                  <a:srgbClr val="1D2925"/>
                </a:solidFill>
                <a:latin typeface="Arial"/>
                <a:ea typeface="Arial"/>
                <a:cs typeface="Arial"/>
              </a:defRPr>
            </a:pPr>
            <a:r>
              <a:rPr sz="1350" b="0">
                <a:solidFill>
                  <a:srgbClr val="1D2925"/>
                </a:solidFill>
                <a:latin typeface="Arial"/>
                <a:ea typeface="Arial"/>
                <a:cs typeface="Arial"/>
              </a:rPr>
              <a:t>Validation can leak into final reporting</a:t>
            </a:r>
          </a:p>
        </p:txBody>
      </p:sp>
      <p:sp>
        <p:nvSpPr>
          <p:cNvPr id="24" name="">
            <a:extLst xmlns:a="http://schemas.openxmlformats.org/drawingml/2006/main">
              <a:ext uri="{FF2B5EF4-FFF2-40B4-BE49-F238E27FC236}">
                <a16:creationId xmlns:a16="http://schemas.microsoft.com/office/drawing/2014/main" id="{5A139CCE-5104-4AFE-9720-C8625ECE0D97}"/>
              </a:ext>
            </a:extLst>
          </p:cNvPr>
          <p:cNvSpPr>
            <a:spLocks xmlns:a="http://schemas.openxmlformats.org/drawingml/2006/main" noGrp="1"/>
          </p:cNvSpPr>
          <p:nvPr/>
        </p:nvSpPr>
        <p:spPr>
          <a:xfrm xmlns:a="http://schemas.openxmlformats.org/drawingml/2006/main">
            <a:off x="3905250" y="4591050"/>
            <a:ext cx="3952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Select the checkpoint on validation; evaluate the held-out test once</a:t>
            </a:r>
          </a:p>
        </p:txBody>
      </p:sp>
      <p:sp>
        <p:nvSpPr>
          <p:cNvPr id="25" name="">
            <a:extLst xmlns:a="http://schemas.openxmlformats.org/drawingml/2006/main">
              <a:ext uri="{FF2B5EF4-FFF2-40B4-BE49-F238E27FC236}">
                <a16:creationId xmlns:a16="http://schemas.microsoft.com/office/drawing/2014/main" id="{3B8E37D0-655E-4DED-B183-0C98C65AFCFB}"/>
              </a:ext>
            </a:extLst>
          </p:cNvPr>
          <p:cNvSpPr>
            <a:spLocks xmlns:a="http://schemas.openxmlformats.org/drawingml/2006/main" noGrp="1"/>
          </p:cNvSpPr>
          <p:nvPr/>
        </p:nvSpPr>
        <p:spPr>
          <a:xfrm xmlns:a="http://schemas.openxmlformats.org/drawingml/2006/main">
            <a:off x="8172450" y="4705350"/>
            <a:ext cx="76200" cy="304800"/>
          </a:xfrm>
          <a:prstGeom xmlns:a="http://schemas.openxmlformats.org/drawingml/2006/main" prst="rect">
            <a:avLst/>
          </a:prstGeom>
          <a:solidFill xmlns:a="http://schemas.openxmlformats.org/drawingml/2006/main">
            <a:srgbClr val="2F6B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ABCE422-0517-4BCA-926B-0259D25748A6}"/>
              </a:ext>
            </a:extLst>
          </p:cNvPr>
          <p:cNvSpPr>
            <a:spLocks xmlns:a="http://schemas.openxmlformats.org/drawingml/2006/main" noGrp="1"/>
          </p:cNvSpPr>
          <p:nvPr/>
        </p:nvSpPr>
        <p:spPr>
          <a:xfrm xmlns:a="http://schemas.openxmlformats.org/drawingml/2006/main">
            <a:off x="8362950" y="4705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DONE</a:t>
            </a:r>
          </a:p>
        </p:txBody>
      </p:sp>
      <p:sp>
        <p:nvSpPr>
          <p:cNvPr id="27" name="">
            <a:extLst xmlns:a="http://schemas.openxmlformats.org/drawingml/2006/main">
              <a:ext uri="{FF2B5EF4-FFF2-40B4-BE49-F238E27FC236}">
                <a16:creationId xmlns:a16="http://schemas.microsoft.com/office/drawing/2014/main" id="{4A0A1228-90B0-42BB-BC8C-79AD8E882EDB}"/>
              </a:ext>
            </a:extLst>
          </p:cNvPr>
          <p:cNvSpPr>
            <a:spLocks xmlns:a="http://schemas.openxmlformats.org/drawingml/2006/main" noGrp="1"/>
          </p:cNvSpPr>
          <p:nvPr/>
        </p:nvSpPr>
        <p:spPr>
          <a:xfrm xmlns:a="http://schemas.openxmlformats.org/drawingml/2006/main">
            <a:off x="781050" y="5238750"/>
            <a:ext cx="1045845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0FF2FFC-A776-4FB4-974B-F51D0E7C6DB4}"/>
              </a:ext>
            </a:extLst>
          </p:cNvPr>
          <p:cNvSpPr>
            <a:spLocks xmlns:a="http://schemas.openxmlformats.org/drawingml/2006/main" noGrp="1"/>
          </p:cNvSpPr>
          <p:nvPr/>
        </p:nvSpPr>
        <p:spPr>
          <a:xfrm xmlns:a="http://schemas.openxmlformats.org/drawingml/2006/main">
            <a:off x="781050" y="5372100"/>
            <a:ext cx="2724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D2925"/>
                </a:solidFill>
                <a:latin typeface="Arial"/>
                <a:ea typeface="Arial"/>
                <a:cs typeface="Arial"/>
              </a:defRPr>
            </a:defPPr>
          </a:lstStyle>
          <a:p xmlns:a="http://schemas.openxmlformats.org/drawingml/2006/main">
            <a:pPr>
              <a:defRPr sz="1350" b="1">
                <a:solidFill>
                  <a:srgbClr val="1D2925"/>
                </a:solidFill>
                <a:latin typeface="Arial"/>
                <a:ea typeface="Arial"/>
                <a:cs typeface="Arial"/>
              </a:defRPr>
            </a:pPr>
            <a:r>
              <a:rPr sz="1350" b="1">
                <a:solidFill>
                  <a:srgbClr val="1D2925"/>
                </a:solidFill>
                <a:latin typeface="Arial"/>
                <a:ea typeface="Arial"/>
                <a:cs typeface="Arial"/>
              </a:rPr>
              <a:t>Controlled images do not prove field transfer</a:t>
            </a:r>
          </a:p>
        </p:txBody>
      </p:sp>
      <p:sp>
        <p:nvSpPr>
          <p:cNvPr id="29" name="">
            <a:extLst xmlns:a="http://schemas.openxmlformats.org/drawingml/2006/main">
              <a:ext uri="{FF2B5EF4-FFF2-40B4-BE49-F238E27FC236}">
                <a16:creationId xmlns:a16="http://schemas.microsoft.com/office/drawing/2014/main" id="{31F53F83-C3B5-4041-BEB8-E68F7F5688A6}"/>
              </a:ext>
            </a:extLst>
          </p:cNvPr>
          <p:cNvSpPr>
            <a:spLocks xmlns:a="http://schemas.openxmlformats.org/drawingml/2006/main" noGrp="1"/>
          </p:cNvSpPr>
          <p:nvPr/>
        </p:nvSpPr>
        <p:spPr>
          <a:xfrm xmlns:a="http://schemas.openxmlformats.org/drawingml/2006/main">
            <a:off x="3905250" y="5372100"/>
            <a:ext cx="3952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Keep PlantDoc external; map only confirmed shared classes before testing</a:t>
            </a:r>
          </a:p>
        </p:txBody>
      </p:sp>
      <p:sp>
        <p:nvSpPr>
          <p:cNvPr id="30" name="">
            <a:extLst xmlns:a="http://schemas.openxmlformats.org/drawingml/2006/main">
              <a:ext uri="{FF2B5EF4-FFF2-40B4-BE49-F238E27FC236}">
                <a16:creationId xmlns:a16="http://schemas.microsoft.com/office/drawing/2014/main" id="{50E72AC0-94FA-4C0D-8523-0983A2BEB324}"/>
              </a:ext>
            </a:extLst>
          </p:cNvPr>
          <p:cNvSpPr>
            <a:spLocks xmlns:a="http://schemas.openxmlformats.org/drawingml/2006/main" noGrp="1"/>
          </p:cNvSpPr>
          <p:nvPr/>
        </p:nvSpPr>
        <p:spPr>
          <a:xfrm xmlns:a="http://schemas.openxmlformats.org/drawingml/2006/main">
            <a:off x="8172450" y="5486400"/>
            <a:ext cx="76200" cy="304800"/>
          </a:xfrm>
          <a:prstGeom xmlns:a="http://schemas.openxmlformats.org/drawingml/2006/main" prst="rect">
            <a:avLst/>
          </a:prstGeom>
          <a:solidFill xmlns:a="http://schemas.openxmlformats.org/drawingml/2006/main">
            <a:srgbClr val="D8794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F9E7BA2-F75E-4BA8-8502-081C49973850}"/>
              </a:ext>
            </a:extLst>
          </p:cNvPr>
          <p:cNvSpPr>
            <a:spLocks xmlns:a="http://schemas.openxmlformats.org/drawingml/2006/main" noGrp="1"/>
          </p:cNvSpPr>
          <p:nvPr/>
        </p:nvSpPr>
        <p:spPr>
          <a:xfrm xmlns:a="http://schemas.openxmlformats.org/drawingml/2006/main">
            <a:off x="8362950" y="54864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D87942"/>
                </a:solidFill>
                <a:latin typeface="Arial"/>
                <a:ea typeface="Arial"/>
                <a:cs typeface="Arial"/>
              </a:defRPr>
            </a:defPPr>
          </a:lstStyle>
          <a:p xmlns:a="http://schemas.openxmlformats.org/drawingml/2006/main">
            <a:pPr>
              <a:defRPr sz="1050" b="1">
                <a:solidFill>
                  <a:srgbClr val="D87942"/>
                </a:solidFill>
                <a:latin typeface="Arial"/>
                <a:ea typeface="Arial"/>
                <a:cs typeface="Arial"/>
              </a:defRPr>
            </a:pPr>
            <a:r>
              <a:rPr sz="1050" b="1">
                <a:solidFill>
                  <a:srgbClr val="D87942"/>
                </a:solidFill>
                <a:latin typeface="Arial"/>
                <a:ea typeface="Arial"/>
                <a:cs typeface="Arial"/>
              </a:rPr>
              <a:t>NEXT</a:t>
            </a:r>
          </a:p>
        </p:txBody>
      </p:sp>
      <p:sp>
        <p:nvSpPr>
          <p:cNvPr id="32" name="">
            <a:extLst xmlns:a="http://schemas.openxmlformats.org/drawingml/2006/main">
              <a:ext uri="{FF2B5EF4-FFF2-40B4-BE49-F238E27FC236}">
                <a16:creationId xmlns:a16="http://schemas.microsoft.com/office/drawing/2014/main" id="{51766E21-E660-4147-B989-7EFFFECB0D24}"/>
              </a:ext>
            </a:extLst>
          </p:cNvPr>
          <p:cNvSpPr>
            <a:spLocks xmlns:a="http://schemas.openxmlformats.org/drawingml/2006/main" noGrp="1"/>
          </p:cNvSpPr>
          <p:nvPr/>
        </p:nvSpPr>
        <p:spPr>
          <a:xfrm xmlns:a="http://schemas.openxmlformats.org/drawingml/2006/main">
            <a:off x="781050" y="6019800"/>
            <a:ext cx="1045845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D7AA2CA-6163-48D1-8408-55FF7C2E46C8}"/>
              </a:ext>
            </a:extLst>
          </p:cNvPr>
          <p:cNvSpPr>
            <a:spLocks xmlns:a="http://schemas.openxmlformats.org/drawingml/2006/main" noGrp="1"/>
          </p:cNvSpPr>
          <p:nvPr/>
        </p:nvSpPr>
        <p:spPr>
          <a:xfrm xmlns:a="http://schemas.openxmlformats.org/drawingml/2006/main">
            <a:off x="781050" y="62293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73F35"/>
                </a:solidFill>
                <a:latin typeface="Arial"/>
                <a:ea typeface="Arial"/>
                <a:cs typeface="Arial"/>
              </a:defRPr>
            </a:defPPr>
          </a:lstStyle>
          <a:p xmlns:a="http://schemas.openxmlformats.org/drawingml/2006/main">
            <a:pPr>
              <a:defRPr sz="1200" b="1">
                <a:solidFill>
                  <a:srgbClr val="173F35"/>
                </a:solidFill>
                <a:latin typeface="Arial"/>
                <a:ea typeface="Arial"/>
                <a:cs typeface="Arial"/>
              </a:defRPr>
            </a:pPr>
            <a:r>
              <a:rPr sz="1200" b="1">
                <a:solidFill>
                  <a:srgbClr val="173F35"/>
                </a:solidFill>
                <a:latin typeface="Arial"/>
                <a:ea typeface="Arial"/>
                <a:cs typeface="Arial"/>
              </a:rPr>
              <a:t>PlantDoc is reserved for an external check. The current score comes only from PlantVillage.</a:t>
            </a:r>
          </a:p>
        </p:txBody>
      </p:sp>
      <p:sp>
        <p:nvSpPr>
          <p:cNvPr id="34" name="">
            <a:extLst xmlns:a="http://schemas.openxmlformats.org/drawingml/2006/main">
              <a:ext uri="{FF2B5EF4-FFF2-40B4-BE49-F238E27FC236}">
                <a16:creationId xmlns:a16="http://schemas.microsoft.com/office/drawing/2014/main" id="{07C90F33-9278-4781-8196-60B1BC841B4C}"/>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F9CA047-04B0-47E9-9827-A38F22D6E934}"/>
              </a:ext>
            </a:extLst>
          </p:cNvPr>
          <p:cNvSpPr>
            <a:spLocks xmlns:a="http://schemas.openxmlformats.org/drawingml/2006/main" noGrp="1"/>
          </p:cNvSpPr>
          <p:nvPr/>
        </p:nvSpPr>
        <p:spPr>
          <a:xfrm xmlns:a="http://schemas.openxmlformats.org/drawingml/2006/main">
            <a:off x="685800" y="65436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61716A"/>
                </a:solidFill>
                <a:latin typeface="Arial"/>
                <a:ea typeface="Arial"/>
                <a:cs typeface="Arial"/>
              </a:defRPr>
            </a:defPPr>
          </a:lstStyle>
          <a:p xmlns:a="http://schemas.openxmlformats.org/drawingml/2006/main">
            <a:pPr>
              <a:defRPr sz="825" b="1">
                <a:solidFill>
                  <a:srgbClr val="61716A"/>
                </a:solidFill>
                <a:latin typeface="Arial"/>
                <a:ea typeface="Arial"/>
                <a:cs typeface="Arial"/>
              </a:defRPr>
            </a:pPr>
            <a:r>
              <a:rPr sz="825" b="1">
                <a:solidFill>
                  <a:srgbClr val="61716A"/>
                </a:solidFill>
                <a:latin typeface="Arial"/>
                <a:ea typeface="Arial"/>
                <a:cs typeface="Arial"/>
              </a:rPr>
              <a:t>SURVEY FINDING AND PROJECT CONTROL</a:t>
            </a:r>
          </a:p>
        </p:txBody>
      </p:sp>
      <p:sp>
        <p:nvSpPr>
          <p:cNvPr id="36" name="">
            <a:extLst xmlns:a="http://schemas.openxmlformats.org/drawingml/2006/main">
              <a:ext uri="{FF2B5EF4-FFF2-40B4-BE49-F238E27FC236}">
                <a16:creationId xmlns:a16="http://schemas.microsoft.com/office/drawing/2014/main" id="{7B592A02-B72A-45D9-938B-DB42AB2C07F8}"/>
              </a:ext>
            </a:extLst>
          </p:cNvPr>
          <p:cNvSpPr>
            <a:spLocks xmlns:a="http://schemas.openxmlformats.org/drawingml/2006/main" noGrp="1"/>
          </p:cNvSpPr>
          <p:nvPr/>
        </p:nvSpPr>
        <p:spPr>
          <a:xfrm xmlns:a="http://schemas.openxmlformats.org/drawingml/2006/main">
            <a:off x="10953750" y="65246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F6B54"/>
                </a:solidFill>
                <a:latin typeface="Arial"/>
                <a:ea typeface="Arial"/>
                <a:cs typeface="Arial"/>
              </a:defRPr>
            </a:defPPr>
          </a:lstStyle>
          <a:p xmlns:a="http://schemas.openxmlformats.org/drawingml/2006/main">
            <a:pPr>
              <a:defRPr sz="975" b="1">
                <a:solidFill>
                  <a:srgbClr val="2F6B54"/>
                </a:solidFill>
                <a:latin typeface="Arial"/>
                <a:ea typeface="Arial"/>
                <a:cs typeface="Arial"/>
              </a:defRPr>
            </a:pPr>
            <a:r>
              <a:rPr sz="975" b="1">
                <a:solidFill>
                  <a:srgbClr val="2F6B54"/>
                </a:solidFill>
                <a:latin typeface="Arial"/>
                <a:ea typeface="Arial"/>
                <a:cs typeface="Arial"/>
              </a:rPr>
              <a:t>03</a:t>
            </a:r>
          </a:p>
        </p:txBody>
      </p:sp>
    </p:spTree>
    <p:extLst>
      <p:ext uri="{BB962C8B-B14F-4D97-AF65-F5344CB8AC3E}">
        <p14:creationId xmlns:p14="http://schemas.microsoft.com/office/powerpoint/2010/main" val="974344726"/>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462DC78-DFA1-4EDE-AD0E-FDB511FA7CCA}"/>
              </a:ext>
            </a:extLst>
          </p:cNvPr>
          <p:cNvSpPr>
            <a:spLocks xmlns:a="http://schemas.openxmlformats.org/drawingml/2006/main" noGrp="1"/>
          </p:cNvSpPr>
          <p:nvPr/>
        </p:nvSpPr>
        <p:spPr>
          <a:xfrm xmlns:a="http://schemas.openxmlformats.org/drawingml/2006/main">
            <a:off x="685800" y="3238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03  DATA AND MODEL</a:t>
            </a:r>
          </a:p>
        </p:txBody>
      </p:sp>
      <p:sp>
        <p:nvSpPr>
          <p:cNvPr id="2" name="">
            <a:extLst xmlns:a="http://schemas.openxmlformats.org/drawingml/2006/main">
              <a:ext uri="{FF2B5EF4-FFF2-40B4-BE49-F238E27FC236}">
                <a16:creationId xmlns:a16="http://schemas.microsoft.com/office/drawing/2014/main" id="{2D9EBE7B-D8D5-45D3-8939-42B890183D62}"/>
              </a:ext>
            </a:extLst>
          </p:cNvPr>
          <p:cNvSpPr>
            <a:spLocks xmlns:a="http://schemas.openxmlformats.org/drawingml/2006/main" noGrp="1"/>
          </p:cNvSpPr>
          <p:nvPr/>
        </p:nvSpPr>
        <p:spPr>
          <a:xfrm xmlns:a="http://schemas.openxmlformats.org/drawingml/2006/main">
            <a:off x="685800" y="638175"/>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150" b="1">
                <a:solidFill>
                  <a:srgbClr val="173F35"/>
                </a:solidFill>
                <a:latin typeface="Arial"/>
                <a:ea typeface="Arial"/>
                <a:cs typeface="Arial"/>
              </a:defRPr>
            </a:defPPr>
          </a:lstStyle>
          <a:p xmlns:a="http://schemas.openxmlformats.org/drawingml/2006/main">
            <a:pPr>
              <a:defRPr sz="3150" b="1">
                <a:solidFill>
                  <a:srgbClr val="173F35"/>
                </a:solidFill>
                <a:latin typeface="Arial"/>
                <a:ea typeface="Arial"/>
                <a:cs typeface="Arial"/>
              </a:defRPr>
            </a:pPr>
            <a:r>
              <a:rPr sz="3150" b="1">
                <a:solidFill>
                  <a:srgbClr val="173F35"/>
                </a:solidFill>
                <a:latin typeface="Arial"/>
                <a:ea typeface="Arial"/>
                <a:cs typeface="Arial"/>
              </a:rPr>
              <a:t>Frozen splits support a reproducible baseline</a:t>
            </a:r>
          </a:p>
        </p:txBody>
      </p:sp>
      <p:sp>
        <p:nvSpPr>
          <p:cNvPr id="3" name="">
            <a:extLst xmlns:a="http://schemas.openxmlformats.org/drawingml/2006/main">
              <a:ext uri="{FF2B5EF4-FFF2-40B4-BE49-F238E27FC236}">
                <a16:creationId xmlns:a16="http://schemas.microsoft.com/office/drawing/2014/main" id="{556FB6E5-32B9-4E35-878B-25519018DA79}"/>
              </a:ext>
            </a:extLst>
          </p:cNvPr>
          <p:cNvSpPr>
            <a:spLocks xmlns:a="http://schemas.openxmlformats.org/drawingml/2006/main" noGrp="1"/>
          </p:cNvSpPr>
          <p:nvPr/>
        </p:nvSpPr>
        <p:spPr>
          <a:xfrm xmlns:a="http://schemas.openxmlformats.org/drawingml/2006/main">
            <a:off x="704850" y="1171575"/>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61716A"/>
                </a:solidFill>
                <a:latin typeface="Arial"/>
                <a:ea typeface="Arial"/>
                <a:cs typeface="Arial"/>
              </a:defRPr>
            </a:defPPr>
          </a:lstStyle>
          <a:p xmlns:a="http://schemas.openxmlformats.org/drawingml/2006/main">
            <a:pPr>
              <a:defRPr sz="1350" b="0">
                <a:solidFill>
                  <a:srgbClr val="61716A"/>
                </a:solidFill>
                <a:latin typeface="Arial"/>
                <a:ea typeface="Arial"/>
                <a:cs typeface="Arial"/>
              </a:defRPr>
            </a:pPr>
            <a:r>
              <a:rPr sz="1350" b="0">
                <a:solidFill>
                  <a:srgbClr val="61716A"/>
                </a:solidFill>
                <a:latin typeface="Arial"/>
                <a:ea typeface="Arial"/>
                <a:cs typeface="Arial"/>
              </a:rPr>
              <a:t>PlantVillage supplies 38 classes. PlantDoc remains a separate future external test.</a:t>
            </a:r>
          </a:p>
        </p:txBody>
      </p:sp>
      <p:sp>
        <p:nvSpPr>
          <p:cNvPr id="4" name="">
            <a:extLst xmlns:a="http://schemas.openxmlformats.org/drawingml/2006/main">
              <a:ext uri="{FF2B5EF4-FFF2-40B4-BE49-F238E27FC236}">
                <a16:creationId xmlns:a16="http://schemas.microsoft.com/office/drawing/2014/main" id="{D8FD6082-59C9-4241-A883-B4B2D0DBA67A}"/>
              </a:ext>
            </a:extLst>
          </p:cNvPr>
          <p:cNvSpPr>
            <a:spLocks xmlns:a="http://schemas.openxmlformats.org/drawingml/2006/main" noGrp="1"/>
          </p:cNvSpPr>
          <p:nvPr/>
        </p:nvSpPr>
        <p:spPr>
          <a:xfrm xmlns:a="http://schemas.openxmlformats.org/drawingml/2006/main">
            <a:off x="685800" y="1581150"/>
            <a:ext cx="1082040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6EC6DF-70CA-4E60-AEC3-EA99EBBD956F}"/>
              </a:ext>
            </a:extLst>
          </p:cNvPr>
          <p:cNvSpPr>
            <a:spLocks xmlns:a="http://schemas.openxmlformats.org/drawingml/2006/main" noGrp="1"/>
          </p:cNvSpPr>
          <p:nvPr/>
        </p:nvSpPr>
        <p:spPr>
          <a:xfrm xmlns:a="http://schemas.openxmlformats.org/drawingml/2006/main">
            <a:off x="742950" y="18478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1716A"/>
                </a:solidFill>
                <a:latin typeface="Arial"/>
                <a:ea typeface="Arial"/>
                <a:cs typeface="Arial"/>
              </a:defRPr>
            </a:defPPr>
          </a:lstStyle>
          <a:p xmlns:a="http://schemas.openxmlformats.org/drawingml/2006/main">
            <a:pPr>
              <a:defRPr sz="975" b="1">
                <a:solidFill>
                  <a:srgbClr val="61716A"/>
                </a:solidFill>
                <a:latin typeface="Arial"/>
                <a:ea typeface="Arial"/>
                <a:cs typeface="Arial"/>
              </a:defRPr>
            </a:pPr>
            <a:r>
              <a:rPr sz="975" b="1">
                <a:solidFill>
                  <a:srgbClr val="61716A"/>
                </a:solidFill>
                <a:latin typeface="Arial"/>
                <a:ea typeface="Arial"/>
                <a:cs typeface="Arial"/>
              </a:rPr>
              <a:t>PLANTVILLAGE SOURCE</a:t>
            </a:r>
          </a:p>
        </p:txBody>
      </p:sp>
      <p:sp>
        <p:nvSpPr>
          <p:cNvPr id="6" name="">
            <a:extLst xmlns:a="http://schemas.openxmlformats.org/drawingml/2006/main">
              <a:ext uri="{FF2B5EF4-FFF2-40B4-BE49-F238E27FC236}">
                <a16:creationId xmlns:a16="http://schemas.microsoft.com/office/drawing/2014/main" id="{EE9C8DCD-9702-4AC1-8A93-B1866B3D1160}"/>
              </a:ext>
            </a:extLst>
          </p:cNvPr>
          <p:cNvSpPr>
            <a:spLocks xmlns:a="http://schemas.openxmlformats.org/drawingml/2006/main" noGrp="1"/>
          </p:cNvSpPr>
          <p:nvPr/>
        </p:nvSpPr>
        <p:spPr>
          <a:xfrm xmlns:a="http://schemas.openxmlformats.org/drawingml/2006/main">
            <a:off x="742950" y="214312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73F35"/>
                </a:solidFill>
                <a:latin typeface="Arial"/>
                <a:ea typeface="Arial"/>
                <a:cs typeface="Arial"/>
              </a:defRPr>
            </a:defPPr>
          </a:lstStyle>
          <a:p xmlns:a="http://schemas.openxmlformats.org/drawingml/2006/main">
            <a:pPr>
              <a:defRPr sz="3000" b="1">
                <a:solidFill>
                  <a:srgbClr val="173F35"/>
                </a:solidFill>
                <a:latin typeface="Arial"/>
                <a:ea typeface="Arial"/>
                <a:cs typeface="Arial"/>
              </a:defRPr>
            </a:pPr>
            <a:r>
              <a:rPr sz="3000" b="1">
                <a:solidFill>
                  <a:srgbClr val="173F35"/>
                </a:solidFill>
                <a:latin typeface="Arial"/>
                <a:ea typeface="Arial"/>
                <a:cs typeface="Arial"/>
              </a:rPr>
              <a:t>54,305</a:t>
            </a:r>
          </a:p>
        </p:txBody>
      </p:sp>
      <p:sp>
        <p:nvSpPr>
          <p:cNvPr id="7" name="">
            <a:extLst xmlns:a="http://schemas.openxmlformats.org/drawingml/2006/main">
              <a:ext uri="{FF2B5EF4-FFF2-40B4-BE49-F238E27FC236}">
                <a16:creationId xmlns:a16="http://schemas.microsoft.com/office/drawing/2014/main" id="{B6C973C7-11A6-41A5-A3D9-CE0AC945A5D5}"/>
              </a:ext>
            </a:extLst>
          </p:cNvPr>
          <p:cNvSpPr>
            <a:spLocks xmlns:a="http://schemas.openxmlformats.org/drawingml/2006/main" noGrp="1"/>
          </p:cNvSpPr>
          <p:nvPr/>
        </p:nvSpPr>
        <p:spPr>
          <a:xfrm xmlns:a="http://schemas.openxmlformats.org/drawingml/2006/main">
            <a:off x="762000" y="2647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61716A"/>
                </a:solidFill>
                <a:latin typeface="Arial"/>
                <a:ea typeface="Arial"/>
                <a:cs typeface="Arial"/>
              </a:defRPr>
            </a:defPPr>
          </a:lstStyle>
          <a:p xmlns:a="http://schemas.openxmlformats.org/drawingml/2006/main">
            <a:pPr>
              <a:defRPr sz="1200" b="0">
                <a:solidFill>
                  <a:srgbClr val="61716A"/>
                </a:solidFill>
                <a:latin typeface="Arial"/>
                <a:ea typeface="Arial"/>
                <a:cs typeface="Arial"/>
              </a:defRPr>
            </a:pPr>
            <a:r>
              <a:rPr sz="1200" b="0">
                <a:solidFill>
                  <a:srgbClr val="61716A"/>
                </a:solidFill>
                <a:latin typeface="Arial"/>
                <a:ea typeface="Arial"/>
                <a:cs typeface="Arial"/>
              </a:rPr>
              <a:t>source images</a:t>
            </a:r>
          </a:p>
        </p:txBody>
      </p:sp>
      <p:sp>
        <p:nvSpPr>
          <p:cNvPr id="8" name="">
            <a:extLst xmlns:a="http://schemas.openxmlformats.org/drawingml/2006/main">
              <a:ext uri="{FF2B5EF4-FFF2-40B4-BE49-F238E27FC236}">
                <a16:creationId xmlns:a16="http://schemas.microsoft.com/office/drawing/2014/main" id="{EC08C734-392A-47C4-B04C-018A33861BAE}"/>
              </a:ext>
            </a:extLst>
          </p:cNvPr>
          <p:cNvSpPr>
            <a:spLocks xmlns:a="http://schemas.openxmlformats.org/drawingml/2006/main" noGrp="1"/>
          </p:cNvSpPr>
          <p:nvPr/>
        </p:nvSpPr>
        <p:spPr>
          <a:xfrm xmlns:a="http://schemas.openxmlformats.org/drawingml/2006/main">
            <a:off x="3333750" y="2171700"/>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D87942"/>
                </a:solidFill>
                <a:latin typeface="Arial"/>
                <a:ea typeface="Arial"/>
                <a:cs typeface="Arial"/>
              </a:defRPr>
            </a:defPPr>
          </a:lstStyle>
          <a:p xmlns:a="http://schemas.openxmlformats.org/drawingml/2006/main">
            <a:pPr>
              <a:defRPr sz="2400" b="1">
                <a:solidFill>
                  <a:srgbClr val="D87942"/>
                </a:solidFill>
                <a:latin typeface="Arial"/>
                <a:ea typeface="Arial"/>
                <a:cs typeface="Arial"/>
              </a:defRPr>
            </a:pPr>
            <a:r>
              <a:rPr sz="2400" b="1">
                <a:solidFill>
                  <a:srgbClr val="D87942"/>
                </a:solidFill>
                <a:latin typeface="Arial"/>
                <a:ea typeface="Arial"/>
                <a:cs typeface="Arial"/>
              </a:rPr>
              <a:t>290</a:t>
            </a:r>
          </a:p>
        </p:txBody>
      </p:sp>
      <p:sp>
        <p:nvSpPr>
          <p:cNvPr id="9" name="">
            <a:extLst xmlns:a="http://schemas.openxmlformats.org/drawingml/2006/main">
              <a:ext uri="{FF2B5EF4-FFF2-40B4-BE49-F238E27FC236}">
                <a16:creationId xmlns:a16="http://schemas.microsoft.com/office/drawing/2014/main" id="{8666FBDF-7E29-473F-A550-3C8EA5F9B37D}"/>
              </a:ext>
            </a:extLst>
          </p:cNvPr>
          <p:cNvSpPr>
            <a:spLocks xmlns:a="http://schemas.openxmlformats.org/drawingml/2006/main" noGrp="1"/>
          </p:cNvSpPr>
          <p:nvPr/>
        </p:nvSpPr>
        <p:spPr>
          <a:xfrm xmlns:a="http://schemas.openxmlformats.org/drawingml/2006/main">
            <a:off x="3333750" y="26479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61716A"/>
                </a:solidFill>
                <a:latin typeface="Arial"/>
                <a:ea typeface="Arial"/>
                <a:cs typeface="Arial"/>
              </a:defRPr>
            </a:defPPr>
          </a:lstStyle>
          <a:p xmlns:a="http://schemas.openxmlformats.org/drawingml/2006/main">
            <a:pPr>
              <a:defRPr sz="1200" b="0">
                <a:solidFill>
                  <a:srgbClr val="61716A"/>
                </a:solidFill>
                <a:latin typeface="Arial"/>
                <a:ea typeface="Arial"/>
                <a:cs typeface="Arial"/>
              </a:defRPr>
            </a:pPr>
            <a:r>
              <a:rPr sz="1200" b="0">
                <a:solidFill>
                  <a:srgbClr val="61716A"/>
                </a:solidFill>
                <a:latin typeface="Arial"/>
                <a:ea typeface="Arial"/>
                <a:cs typeface="Arial"/>
              </a:rPr>
              <a:t>overlap rows removed</a:t>
            </a:r>
          </a:p>
        </p:txBody>
      </p:sp>
      <p:sp>
        <p:nvSpPr>
          <p:cNvPr id="10" name="">
            <a:extLst xmlns:a="http://schemas.openxmlformats.org/drawingml/2006/main">
              <a:ext uri="{FF2B5EF4-FFF2-40B4-BE49-F238E27FC236}">
                <a16:creationId xmlns:a16="http://schemas.microsoft.com/office/drawing/2014/main" id="{58455471-42B7-4ED4-9D8E-A3E8DE598344}"/>
              </a:ext>
            </a:extLst>
          </p:cNvPr>
          <p:cNvSpPr>
            <a:spLocks xmlns:a="http://schemas.openxmlformats.org/drawingml/2006/main" noGrp="1"/>
          </p:cNvSpPr>
          <p:nvPr/>
        </p:nvSpPr>
        <p:spPr>
          <a:xfrm xmlns:a="http://schemas.openxmlformats.org/drawingml/2006/main">
            <a:off x="5572125" y="1847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1716A"/>
                </a:solidFill>
                <a:latin typeface="Arial"/>
                <a:ea typeface="Arial"/>
                <a:cs typeface="Arial"/>
              </a:defRPr>
            </a:defPPr>
          </a:lstStyle>
          <a:p xmlns:a="http://schemas.openxmlformats.org/drawingml/2006/main">
            <a:pPr>
              <a:defRPr sz="975" b="1">
                <a:solidFill>
                  <a:srgbClr val="61716A"/>
                </a:solidFill>
                <a:latin typeface="Arial"/>
                <a:ea typeface="Arial"/>
                <a:cs typeface="Arial"/>
              </a:defRPr>
            </a:pPr>
            <a:r>
              <a:rPr sz="975" b="1">
                <a:solidFill>
                  <a:srgbClr val="61716A"/>
                </a:solidFill>
                <a:latin typeface="Arial"/>
                <a:ea typeface="Arial"/>
                <a:cs typeface="Arial"/>
              </a:rPr>
              <a:t>FROZEN SPLIT</a:t>
            </a:r>
          </a:p>
        </p:txBody>
      </p:sp>
      <p:sp>
        <p:nvSpPr>
          <p:cNvPr id="11" name="">
            <a:extLst xmlns:a="http://schemas.openxmlformats.org/drawingml/2006/main">
              <a:ext uri="{FF2B5EF4-FFF2-40B4-BE49-F238E27FC236}">
                <a16:creationId xmlns:a16="http://schemas.microsoft.com/office/drawing/2014/main" id="{93582F5F-BA57-463A-A105-D171696FA65F}"/>
              </a:ext>
            </a:extLst>
          </p:cNvPr>
          <p:cNvSpPr>
            <a:spLocks xmlns:a="http://schemas.openxmlformats.org/drawingml/2006/main" noGrp="1"/>
          </p:cNvSpPr>
          <p:nvPr/>
        </p:nvSpPr>
        <p:spPr>
          <a:xfrm xmlns:a="http://schemas.openxmlformats.org/drawingml/2006/main">
            <a:off x="5581650" y="2171700"/>
            <a:ext cx="4029075" cy="352425"/>
          </a:xfrm>
          <a:prstGeom xmlns:a="http://schemas.openxmlformats.org/drawingml/2006/main" prst="rect">
            <a:avLst/>
          </a:prstGeom>
          <a:solidFill xmlns:a="http://schemas.openxmlformats.org/drawingml/2006/main">
            <a:srgbClr val="2F6B5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D04C327-7D6C-4639-A501-866284EFEFFA}"/>
              </a:ext>
            </a:extLst>
          </p:cNvPr>
          <p:cNvSpPr>
            <a:spLocks xmlns:a="http://schemas.openxmlformats.org/drawingml/2006/main" noGrp="1"/>
          </p:cNvSpPr>
          <p:nvPr/>
        </p:nvSpPr>
        <p:spPr>
          <a:xfrm xmlns:a="http://schemas.openxmlformats.org/drawingml/2006/main">
            <a:off x="9610725" y="2171700"/>
            <a:ext cx="714375" cy="352425"/>
          </a:xfrm>
          <a:prstGeom xmlns:a="http://schemas.openxmlformats.org/drawingml/2006/main" prst="rect">
            <a:avLst/>
          </a:prstGeom>
          <a:solidFill xmlns:a="http://schemas.openxmlformats.org/drawingml/2006/main">
            <a:srgbClr val="DDBB6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5A2E33-F9B1-4F50-BD52-CEA743A1F311}"/>
              </a:ext>
            </a:extLst>
          </p:cNvPr>
          <p:cNvSpPr>
            <a:spLocks xmlns:a="http://schemas.openxmlformats.org/drawingml/2006/main" noGrp="1"/>
          </p:cNvSpPr>
          <p:nvPr/>
        </p:nvSpPr>
        <p:spPr>
          <a:xfrm xmlns:a="http://schemas.openxmlformats.org/drawingml/2006/main">
            <a:off x="10325100" y="2171700"/>
            <a:ext cx="1181100" cy="352425"/>
          </a:xfrm>
          <a:prstGeom xmlns:a="http://schemas.openxmlformats.org/drawingml/2006/main" prst="rect">
            <a:avLst/>
          </a:prstGeom>
          <a:solidFill xmlns:a="http://schemas.openxmlformats.org/drawingml/2006/main">
            <a:srgbClr val="D8794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B2F20DB-DF3B-4B3B-8FE2-E7032907AC9F}"/>
              </a:ext>
            </a:extLst>
          </p:cNvPr>
          <p:cNvSpPr>
            <a:spLocks xmlns:a="http://schemas.openxmlformats.org/drawingml/2006/main" noGrp="1"/>
          </p:cNvSpPr>
          <p:nvPr/>
        </p:nvSpPr>
        <p:spPr>
          <a:xfrm xmlns:a="http://schemas.openxmlformats.org/drawingml/2006/main">
            <a:off x="5581650" y="2628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173F35"/>
                </a:solidFill>
                <a:latin typeface="Arial"/>
                <a:ea typeface="Arial"/>
                <a:cs typeface="Arial"/>
              </a:defRPr>
            </a:defPPr>
          </a:lstStyle>
          <a:p xmlns:a="http://schemas.openxmlformats.org/drawingml/2006/main">
            <a:pPr>
              <a:defRPr sz="1275" b="1">
                <a:solidFill>
                  <a:srgbClr val="173F35"/>
                </a:solidFill>
                <a:latin typeface="Arial"/>
                <a:ea typeface="Arial"/>
                <a:cs typeface="Arial"/>
              </a:defRPr>
            </a:pPr>
            <a:r>
              <a:rPr sz="1275" b="1">
                <a:solidFill>
                  <a:srgbClr val="173F35"/>
                </a:solidFill>
                <a:latin typeface="Arial"/>
                <a:ea typeface="Arial"/>
                <a:cs typeface="Arial"/>
              </a:rPr>
              <a:t>Train  36,762</a:t>
            </a:r>
          </a:p>
        </p:txBody>
      </p:sp>
      <p:sp>
        <p:nvSpPr>
          <p:cNvPr id="15" name="">
            <a:extLst xmlns:a="http://schemas.openxmlformats.org/drawingml/2006/main">
              <a:ext uri="{FF2B5EF4-FFF2-40B4-BE49-F238E27FC236}">
                <a16:creationId xmlns:a16="http://schemas.microsoft.com/office/drawing/2014/main" id="{3ADA92AF-7F7F-4977-8918-8F5CC7EF52D1}"/>
              </a:ext>
            </a:extLst>
          </p:cNvPr>
          <p:cNvSpPr>
            <a:spLocks xmlns:a="http://schemas.openxmlformats.org/drawingml/2006/main" noGrp="1"/>
          </p:cNvSpPr>
          <p:nvPr/>
        </p:nvSpPr>
        <p:spPr>
          <a:xfrm xmlns:a="http://schemas.openxmlformats.org/drawingml/2006/main">
            <a:off x="5581650" y="29337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9C7928"/>
                </a:solidFill>
                <a:latin typeface="Arial"/>
                <a:ea typeface="Arial"/>
                <a:cs typeface="Arial"/>
              </a:defRPr>
            </a:defPPr>
          </a:lstStyle>
          <a:p xmlns:a="http://schemas.openxmlformats.org/drawingml/2006/main">
            <a:pPr>
              <a:defRPr sz="1275" b="1">
                <a:solidFill>
                  <a:srgbClr val="9C7928"/>
                </a:solidFill>
                <a:latin typeface="Arial"/>
                <a:ea typeface="Arial"/>
                <a:cs typeface="Arial"/>
              </a:defRPr>
            </a:pPr>
            <a:r>
              <a:rPr sz="1275" b="1">
                <a:solidFill>
                  <a:srgbClr val="9C7928"/>
                </a:solidFill>
                <a:latin typeface="Arial"/>
                <a:ea typeface="Arial"/>
                <a:cs typeface="Arial"/>
              </a:rPr>
              <a:t>Validation  6,544</a:t>
            </a:r>
          </a:p>
        </p:txBody>
      </p:sp>
      <p:sp>
        <p:nvSpPr>
          <p:cNvPr id="16" name="">
            <a:extLst xmlns:a="http://schemas.openxmlformats.org/drawingml/2006/main">
              <a:ext uri="{FF2B5EF4-FFF2-40B4-BE49-F238E27FC236}">
                <a16:creationId xmlns:a16="http://schemas.microsoft.com/office/drawing/2014/main" id="{4AE77819-F8E8-4EB9-8951-7DCC6B61098B}"/>
              </a:ext>
            </a:extLst>
          </p:cNvPr>
          <p:cNvSpPr>
            <a:spLocks xmlns:a="http://schemas.openxmlformats.org/drawingml/2006/main" noGrp="1"/>
          </p:cNvSpPr>
          <p:nvPr/>
        </p:nvSpPr>
        <p:spPr>
          <a:xfrm xmlns:a="http://schemas.openxmlformats.org/drawingml/2006/main">
            <a:off x="5581650" y="3238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D87942"/>
                </a:solidFill>
                <a:latin typeface="Arial"/>
                <a:ea typeface="Arial"/>
                <a:cs typeface="Arial"/>
              </a:defRPr>
            </a:defPPr>
          </a:lstStyle>
          <a:p xmlns:a="http://schemas.openxmlformats.org/drawingml/2006/main">
            <a:pPr>
              <a:defRPr sz="1275" b="1">
                <a:solidFill>
                  <a:srgbClr val="D87942"/>
                </a:solidFill>
                <a:latin typeface="Arial"/>
                <a:ea typeface="Arial"/>
                <a:cs typeface="Arial"/>
              </a:defRPr>
            </a:pPr>
            <a:r>
              <a:rPr sz="1275" b="1">
                <a:solidFill>
                  <a:srgbClr val="D87942"/>
                </a:solidFill>
                <a:latin typeface="Arial"/>
                <a:ea typeface="Arial"/>
                <a:cs typeface="Arial"/>
              </a:rPr>
              <a:t>Test  10,709</a:t>
            </a:r>
          </a:p>
        </p:txBody>
      </p:sp>
      <p:sp>
        <p:nvSpPr>
          <p:cNvPr id="17" name="">
            <a:extLst xmlns:a="http://schemas.openxmlformats.org/drawingml/2006/main">
              <a:ext uri="{FF2B5EF4-FFF2-40B4-BE49-F238E27FC236}">
                <a16:creationId xmlns:a16="http://schemas.microsoft.com/office/drawing/2014/main" id="{028FD3F7-7857-4EEE-A25E-7CDF514C2556}"/>
              </a:ext>
            </a:extLst>
          </p:cNvPr>
          <p:cNvSpPr>
            <a:spLocks xmlns:a="http://schemas.openxmlformats.org/drawingml/2006/main" noGrp="1"/>
          </p:cNvSpPr>
          <p:nvPr/>
        </p:nvSpPr>
        <p:spPr>
          <a:xfrm xmlns:a="http://schemas.openxmlformats.org/drawingml/2006/main">
            <a:off x="742950" y="3667125"/>
            <a:ext cx="1074420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A44F76-EE02-4995-9F28-B0713F8C1FB0}"/>
              </a:ext>
            </a:extLst>
          </p:cNvPr>
          <p:cNvSpPr>
            <a:spLocks xmlns:a="http://schemas.openxmlformats.org/drawingml/2006/main" noGrp="1"/>
          </p:cNvSpPr>
          <p:nvPr/>
        </p:nvSpPr>
        <p:spPr>
          <a:xfrm xmlns:a="http://schemas.openxmlformats.org/drawingml/2006/main">
            <a:off x="742950" y="39052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D87942"/>
                </a:solidFill>
                <a:latin typeface="Arial"/>
                <a:ea typeface="Arial"/>
                <a:cs typeface="Arial"/>
              </a:defRPr>
            </a:defPPr>
          </a:lstStyle>
          <a:p xmlns:a="http://schemas.openxmlformats.org/drawingml/2006/main">
            <a:pPr>
              <a:defRPr sz="975" b="1">
                <a:solidFill>
                  <a:srgbClr val="D87942"/>
                </a:solidFill>
                <a:latin typeface="Arial"/>
                <a:ea typeface="Arial"/>
                <a:cs typeface="Arial"/>
              </a:defRPr>
            </a:pPr>
            <a:r>
              <a:rPr sz="975" b="1">
                <a:solidFill>
                  <a:srgbClr val="D87942"/>
                </a:solidFill>
                <a:latin typeface="Arial"/>
                <a:ea typeface="Arial"/>
                <a:cs typeface="Arial"/>
              </a:rPr>
              <a:t>TRAIN ONLY</a:t>
            </a:r>
          </a:p>
        </p:txBody>
      </p:sp>
      <p:sp>
        <p:nvSpPr>
          <p:cNvPr id="19" name="">
            <a:extLst xmlns:a="http://schemas.openxmlformats.org/drawingml/2006/main">
              <a:ext uri="{FF2B5EF4-FFF2-40B4-BE49-F238E27FC236}">
                <a16:creationId xmlns:a16="http://schemas.microsoft.com/office/drawing/2014/main" id="{7EB02655-E93C-44E7-B5FE-EDC493D3C369}"/>
              </a:ext>
            </a:extLst>
          </p:cNvPr>
          <p:cNvSpPr>
            <a:spLocks xmlns:a="http://schemas.openxmlformats.org/drawingml/2006/main" noGrp="1"/>
          </p:cNvSpPr>
          <p:nvPr/>
        </p:nvSpPr>
        <p:spPr>
          <a:xfrm xmlns:a="http://schemas.openxmlformats.org/drawingml/2006/main">
            <a:off x="742950" y="42100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D2925"/>
                </a:solidFill>
                <a:latin typeface="Arial"/>
                <a:ea typeface="Arial"/>
                <a:cs typeface="Arial"/>
              </a:defRPr>
            </a:defPPr>
          </a:lstStyle>
          <a:p xmlns:a="http://schemas.openxmlformats.org/drawingml/2006/main">
            <a:pPr>
              <a:defRPr sz="1425" b="0">
                <a:solidFill>
                  <a:srgbClr val="1D2925"/>
                </a:solidFill>
                <a:latin typeface="Arial"/>
                <a:ea typeface="Arial"/>
                <a:cs typeface="Arial"/>
              </a:defRPr>
            </a:pPr>
            <a:r>
              <a:rPr sz="1425" b="0">
                <a:solidFill>
                  <a:srgbClr val="1D2925"/>
                </a:solidFill>
                <a:latin typeface="Arial"/>
                <a:ea typeface="Arial"/>
                <a:cs typeface="Arial"/>
              </a:rPr>
              <a:t>Resize to 224 px, normalize, flip, rotate, and adjust color</a:t>
            </a:r>
          </a:p>
        </p:txBody>
      </p:sp>
      <p:sp>
        <p:nvSpPr>
          <p:cNvPr id="20" name="">
            <a:extLst xmlns:a="http://schemas.openxmlformats.org/drawingml/2006/main">
              <a:ext uri="{FF2B5EF4-FFF2-40B4-BE49-F238E27FC236}">
                <a16:creationId xmlns:a16="http://schemas.microsoft.com/office/drawing/2014/main" id="{2C5A8766-1FC8-4311-AD2A-8E4030A3339C}"/>
              </a:ext>
            </a:extLst>
          </p:cNvPr>
          <p:cNvSpPr>
            <a:spLocks xmlns:a="http://schemas.openxmlformats.org/drawingml/2006/main" noGrp="1"/>
          </p:cNvSpPr>
          <p:nvPr/>
        </p:nvSpPr>
        <p:spPr>
          <a:xfrm xmlns:a="http://schemas.openxmlformats.org/drawingml/2006/main">
            <a:off x="742950" y="4762500"/>
            <a:ext cx="2362200" cy="666750"/>
          </a:xfrm>
          <a:prstGeom xmlns:a="http://schemas.openxmlformats.org/drawingml/2006/main" prst="rect">
            <a:avLst/>
          </a:prstGeom>
          <a:solidFill xmlns:a="http://schemas.openxmlformats.org/drawingml/2006/main">
            <a:srgbClr val="FFFDF8"/>
          </a:solidFill>
          <a:ln xmlns:a="http://schemas.openxmlformats.org/drawingml/2006/main" w="9525">
            <a:solidFill>
              <a:srgbClr val="D7DDD4"/>
            </a:solidFill>
            <a:prstDash val="solid"/>
          </a:ln>
        </p:spPr>
      </p:sp>
      <p:sp>
        <p:nvSpPr>
          <p:cNvPr id="21" name="">
            <a:extLst xmlns:a="http://schemas.openxmlformats.org/drawingml/2006/main">
              <a:ext uri="{FF2B5EF4-FFF2-40B4-BE49-F238E27FC236}">
                <a16:creationId xmlns:a16="http://schemas.microsoft.com/office/drawing/2014/main" id="{85E5C9B0-D213-4EAC-82CB-11804B163637}"/>
              </a:ext>
            </a:extLst>
          </p:cNvPr>
          <p:cNvSpPr>
            <a:spLocks xmlns:a="http://schemas.openxmlformats.org/drawingml/2006/main" noGrp="1"/>
          </p:cNvSpPr>
          <p:nvPr/>
        </p:nvSpPr>
        <p:spPr>
          <a:xfrm xmlns:a="http://schemas.openxmlformats.org/drawingml/2006/main">
            <a:off x="933450" y="48577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61716A"/>
                </a:solidFill>
                <a:latin typeface="Arial"/>
                <a:ea typeface="Arial"/>
                <a:cs typeface="Arial"/>
              </a:defRPr>
            </a:defPPr>
          </a:lstStyle>
          <a:p xmlns:a="http://schemas.openxmlformats.org/drawingml/2006/main">
            <a:pPr>
              <a:defRPr sz="900" b="1">
                <a:solidFill>
                  <a:srgbClr val="61716A"/>
                </a:solidFill>
                <a:latin typeface="Arial"/>
                <a:ea typeface="Arial"/>
                <a:cs typeface="Arial"/>
              </a:defRPr>
            </a:pPr>
            <a:r>
              <a:rPr sz="900" b="1">
                <a:solidFill>
                  <a:srgbClr val="61716A"/>
                </a:solidFill>
                <a:latin typeface="Arial"/>
                <a:ea typeface="Arial"/>
                <a:cs typeface="Arial"/>
              </a:rPr>
              <a:t>INPUT</a:t>
            </a:r>
          </a:p>
        </p:txBody>
      </p:sp>
      <p:sp>
        <p:nvSpPr>
          <p:cNvPr id="22" name="">
            <a:extLst xmlns:a="http://schemas.openxmlformats.org/drawingml/2006/main">
              <a:ext uri="{FF2B5EF4-FFF2-40B4-BE49-F238E27FC236}">
                <a16:creationId xmlns:a16="http://schemas.microsoft.com/office/drawing/2014/main" id="{C28721AB-B3F1-4533-B924-F70193C095D2}"/>
              </a:ext>
            </a:extLst>
          </p:cNvPr>
          <p:cNvSpPr>
            <a:spLocks xmlns:a="http://schemas.openxmlformats.org/drawingml/2006/main" noGrp="1"/>
          </p:cNvSpPr>
          <p:nvPr/>
        </p:nvSpPr>
        <p:spPr>
          <a:xfrm xmlns:a="http://schemas.openxmlformats.org/drawingml/2006/main">
            <a:off x="933450" y="50863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73F35"/>
                </a:solidFill>
                <a:latin typeface="Arial"/>
                <a:ea typeface="Arial"/>
                <a:cs typeface="Arial"/>
              </a:defRPr>
            </a:defPPr>
          </a:lstStyle>
          <a:p xmlns:a="http://schemas.openxmlformats.org/drawingml/2006/main">
            <a:pPr>
              <a:defRPr sz="1425" b="1">
                <a:solidFill>
                  <a:srgbClr val="173F35"/>
                </a:solidFill>
                <a:latin typeface="Arial"/>
                <a:ea typeface="Arial"/>
                <a:cs typeface="Arial"/>
              </a:defRPr>
            </a:pPr>
            <a:r>
              <a:rPr sz="1425" b="1">
                <a:solidFill>
                  <a:srgbClr val="173F35"/>
                </a:solidFill>
                <a:latin typeface="Arial"/>
                <a:ea typeface="Arial"/>
                <a:cs typeface="Arial"/>
              </a:rPr>
              <a:t>RGB leaf image</a:t>
            </a:r>
          </a:p>
        </p:txBody>
      </p:sp>
      <p:sp>
        <p:nvSpPr>
          <p:cNvPr id="23" name="">
            <a:extLst xmlns:a="http://schemas.openxmlformats.org/drawingml/2006/main">
              <a:ext uri="{FF2B5EF4-FFF2-40B4-BE49-F238E27FC236}">
                <a16:creationId xmlns:a16="http://schemas.microsoft.com/office/drawing/2014/main" id="{04FBEE06-275D-46DB-9DDD-3104EA4B146A}"/>
              </a:ext>
            </a:extLst>
          </p:cNvPr>
          <p:cNvSpPr>
            <a:spLocks xmlns:a="http://schemas.openxmlformats.org/drawingml/2006/main" noGrp="1"/>
          </p:cNvSpPr>
          <p:nvPr/>
        </p:nvSpPr>
        <p:spPr>
          <a:xfrm xmlns:a="http://schemas.openxmlformats.org/drawingml/2006/main">
            <a:off x="3276600" y="494347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1716A"/>
                </a:solidFill>
                <a:latin typeface="Arial"/>
                <a:ea typeface="Arial"/>
                <a:cs typeface="Arial"/>
              </a:defRPr>
            </a:defPPr>
          </a:lstStyle>
          <a:p xmlns:a="http://schemas.openxmlformats.org/drawingml/2006/main">
            <a:pPr>
              <a:defRPr sz="975" b="1">
                <a:solidFill>
                  <a:srgbClr val="61716A"/>
                </a:solidFill>
                <a:latin typeface="Arial"/>
                <a:ea typeface="Arial"/>
                <a:cs typeface="Arial"/>
              </a:defRPr>
            </a:pPr>
            <a:r>
              <a:rPr sz="975" b="1">
                <a:solidFill>
                  <a:srgbClr val="61716A"/>
                </a:solidFill>
                <a:latin typeface="Arial"/>
                <a:ea typeface="Arial"/>
                <a:cs typeface="Arial"/>
              </a:rPr>
              <a:t>then</a:t>
            </a:r>
          </a:p>
        </p:txBody>
      </p:sp>
      <p:sp>
        <p:nvSpPr>
          <p:cNvPr id="24" name="">
            <a:extLst xmlns:a="http://schemas.openxmlformats.org/drawingml/2006/main">
              <a:ext uri="{FF2B5EF4-FFF2-40B4-BE49-F238E27FC236}">
                <a16:creationId xmlns:a16="http://schemas.microsoft.com/office/drawing/2014/main" id="{AC936486-9412-49BE-B8E0-D571A63320DB}"/>
              </a:ext>
            </a:extLst>
          </p:cNvPr>
          <p:cNvSpPr>
            <a:spLocks xmlns:a="http://schemas.openxmlformats.org/drawingml/2006/main" noGrp="1"/>
          </p:cNvSpPr>
          <p:nvPr/>
        </p:nvSpPr>
        <p:spPr>
          <a:xfrm xmlns:a="http://schemas.openxmlformats.org/drawingml/2006/main">
            <a:off x="3829050" y="4762500"/>
            <a:ext cx="3190875" cy="666750"/>
          </a:xfrm>
          <a:prstGeom xmlns:a="http://schemas.openxmlformats.org/drawingml/2006/main" prst="rect">
            <a:avLst/>
          </a:prstGeom>
          <a:solidFill xmlns:a="http://schemas.openxmlformats.org/drawingml/2006/main">
            <a:srgbClr val="FFFDF8"/>
          </a:solidFill>
          <a:ln xmlns:a="http://schemas.openxmlformats.org/drawingml/2006/main" w="9525">
            <a:solidFill>
              <a:srgbClr val="D7DDD4"/>
            </a:solidFill>
            <a:prstDash val="solid"/>
          </a:ln>
        </p:spPr>
      </p:sp>
      <p:sp>
        <p:nvSpPr>
          <p:cNvPr id="25" name="">
            <a:extLst xmlns:a="http://schemas.openxmlformats.org/drawingml/2006/main">
              <a:ext uri="{FF2B5EF4-FFF2-40B4-BE49-F238E27FC236}">
                <a16:creationId xmlns:a16="http://schemas.microsoft.com/office/drawing/2014/main" id="{3DB6FA7D-2007-4D5E-89F4-906FD84B0CFE}"/>
              </a:ext>
            </a:extLst>
          </p:cNvPr>
          <p:cNvSpPr>
            <a:spLocks xmlns:a="http://schemas.openxmlformats.org/drawingml/2006/main" noGrp="1"/>
          </p:cNvSpPr>
          <p:nvPr/>
        </p:nvSpPr>
        <p:spPr>
          <a:xfrm xmlns:a="http://schemas.openxmlformats.org/drawingml/2006/main">
            <a:off x="4019550" y="48577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61716A"/>
                </a:solidFill>
                <a:latin typeface="Arial"/>
                <a:ea typeface="Arial"/>
                <a:cs typeface="Arial"/>
              </a:defRPr>
            </a:defPPr>
          </a:lstStyle>
          <a:p xmlns:a="http://schemas.openxmlformats.org/drawingml/2006/main">
            <a:pPr>
              <a:defRPr sz="900" b="1">
                <a:solidFill>
                  <a:srgbClr val="61716A"/>
                </a:solidFill>
                <a:latin typeface="Arial"/>
                <a:ea typeface="Arial"/>
                <a:cs typeface="Arial"/>
              </a:defRPr>
            </a:pPr>
            <a:r>
              <a:rPr sz="900" b="1">
                <a:solidFill>
                  <a:srgbClr val="61716A"/>
                </a:solidFill>
                <a:latin typeface="Arial"/>
                <a:ea typeface="Arial"/>
                <a:cs typeface="Arial"/>
              </a:rPr>
              <a:t>BASELINE MODEL</a:t>
            </a:r>
          </a:p>
        </p:txBody>
      </p:sp>
      <p:sp>
        <p:nvSpPr>
          <p:cNvPr id="26" name="">
            <a:extLst xmlns:a="http://schemas.openxmlformats.org/drawingml/2006/main">
              <a:ext uri="{FF2B5EF4-FFF2-40B4-BE49-F238E27FC236}">
                <a16:creationId xmlns:a16="http://schemas.microsoft.com/office/drawing/2014/main" id="{4EF9DA98-B693-4E01-8EDF-A1B3AF41117D}"/>
              </a:ext>
            </a:extLst>
          </p:cNvPr>
          <p:cNvSpPr>
            <a:spLocks xmlns:a="http://schemas.openxmlformats.org/drawingml/2006/main" noGrp="1"/>
          </p:cNvSpPr>
          <p:nvPr/>
        </p:nvSpPr>
        <p:spPr>
          <a:xfrm xmlns:a="http://schemas.openxmlformats.org/drawingml/2006/main">
            <a:off x="4019550" y="50863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73F35"/>
                </a:solidFill>
                <a:latin typeface="Arial"/>
                <a:ea typeface="Arial"/>
                <a:cs typeface="Arial"/>
              </a:defRPr>
            </a:defPPr>
          </a:lstStyle>
          <a:p xmlns:a="http://schemas.openxmlformats.org/drawingml/2006/main">
            <a:pPr>
              <a:defRPr sz="1350" b="1">
                <a:solidFill>
                  <a:srgbClr val="173F35"/>
                </a:solidFill>
                <a:latin typeface="Arial"/>
                <a:ea typeface="Arial"/>
                <a:cs typeface="Arial"/>
              </a:defRPr>
            </a:pPr>
            <a:r>
              <a:rPr sz="1350" b="1">
                <a:solidFill>
                  <a:srgbClr val="173F35"/>
                </a:solidFill>
                <a:latin typeface="Arial"/>
                <a:ea typeface="Arial"/>
                <a:cs typeface="Arial"/>
              </a:rPr>
              <a:t>SmallCNN (32, 64, 128, 256)</a:t>
            </a:r>
          </a:p>
        </p:txBody>
      </p:sp>
      <p:sp>
        <p:nvSpPr>
          <p:cNvPr id="27" name="">
            <a:extLst xmlns:a="http://schemas.openxmlformats.org/drawingml/2006/main">
              <a:ext uri="{FF2B5EF4-FFF2-40B4-BE49-F238E27FC236}">
                <a16:creationId xmlns:a16="http://schemas.microsoft.com/office/drawing/2014/main" id="{82CE3E34-63E1-431C-B391-C3CDB871C37C}"/>
              </a:ext>
            </a:extLst>
          </p:cNvPr>
          <p:cNvSpPr>
            <a:spLocks xmlns:a="http://schemas.openxmlformats.org/drawingml/2006/main" noGrp="1"/>
          </p:cNvSpPr>
          <p:nvPr/>
        </p:nvSpPr>
        <p:spPr>
          <a:xfrm xmlns:a="http://schemas.openxmlformats.org/drawingml/2006/main">
            <a:off x="7181850" y="494347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1716A"/>
                </a:solidFill>
                <a:latin typeface="Arial"/>
                <a:ea typeface="Arial"/>
                <a:cs typeface="Arial"/>
              </a:defRPr>
            </a:defPPr>
          </a:lstStyle>
          <a:p xmlns:a="http://schemas.openxmlformats.org/drawingml/2006/main">
            <a:pPr>
              <a:defRPr sz="975" b="1">
                <a:solidFill>
                  <a:srgbClr val="61716A"/>
                </a:solidFill>
                <a:latin typeface="Arial"/>
                <a:ea typeface="Arial"/>
                <a:cs typeface="Arial"/>
              </a:defRPr>
            </a:pPr>
            <a:r>
              <a:rPr sz="975" b="1">
                <a:solidFill>
                  <a:srgbClr val="61716A"/>
                </a:solidFill>
                <a:latin typeface="Arial"/>
                <a:ea typeface="Arial"/>
                <a:cs typeface="Arial"/>
              </a:rPr>
              <a:t>then</a:t>
            </a:r>
          </a:p>
        </p:txBody>
      </p:sp>
      <p:sp>
        <p:nvSpPr>
          <p:cNvPr id="28" name="">
            <a:extLst xmlns:a="http://schemas.openxmlformats.org/drawingml/2006/main">
              <a:ext uri="{FF2B5EF4-FFF2-40B4-BE49-F238E27FC236}">
                <a16:creationId xmlns:a16="http://schemas.microsoft.com/office/drawing/2014/main" id="{BF162C98-9CB4-4731-868B-FFC9F00F2EE9}"/>
              </a:ext>
            </a:extLst>
          </p:cNvPr>
          <p:cNvSpPr>
            <a:spLocks xmlns:a="http://schemas.openxmlformats.org/drawingml/2006/main" noGrp="1"/>
          </p:cNvSpPr>
          <p:nvPr/>
        </p:nvSpPr>
        <p:spPr>
          <a:xfrm xmlns:a="http://schemas.openxmlformats.org/drawingml/2006/main">
            <a:off x="7734300" y="4762500"/>
            <a:ext cx="3771900" cy="666750"/>
          </a:xfrm>
          <a:prstGeom xmlns:a="http://schemas.openxmlformats.org/drawingml/2006/main" prst="rect">
            <a:avLst/>
          </a:prstGeom>
          <a:solidFill xmlns:a="http://schemas.openxmlformats.org/drawingml/2006/main">
            <a:srgbClr val="FFFDF8"/>
          </a:solidFill>
          <a:ln xmlns:a="http://schemas.openxmlformats.org/drawingml/2006/main" w="9525">
            <a:solidFill>
              <a:srgbClr val="D7DDD4"/>
            </a:solidFill>
            <a:prstDash val="solid"/>
          </a:ln>
        </p:spPr>
      </p:sp>
      <p:sp>
        <p:nvSpPr>
          <p:cNvPr id="29" name="">
            <a:extLst xmlns:a="http://schemas.openxmlformats.org/drawingml/2006/main">
              <a:ext uri="{FF2B5EF4-FFF2-40B4-BE49-F238E27FC236}">
                <a16:creationId xmlns:a16="http://schemas.microsoft.com/office/drawing/2014/main" id="{EB8A5A00-9FC4-4052-BA14-164EEDC8F710}"/>
              </a:ext>
            </a:extLst>
          </p:cNvPr>
          <p:cNvSpPr>
            <a:spLocks xmlns:a="http://schemas.openxmlformats.org/drawingml/2006/main" noGrp="1"/>
          </p:cNvSpPr>
          <p:nvPr/>
        </p:nvSpPr>
        <p:spPr>
          <a:xfrm xmlns:a="http://schemas.openxmlformats.org/drawingml/2006/main">
            <a:off x="7924800" y="48577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61716A"/>
                </a:solidFill>
                <a:latin typeface="Arial"/>
                <a:ea typeface="Arial"/>
                <a:cs typeface="Arial"/>
              </a:defRPr>
            </a:defPPr>
          </a:lstStyle>
          <a:p xmlns:a="http://schemas.openxmlformats.org/drawingml/2006/main">
            <a:pPr>
              <a:defRPr sz="900" b="1">
                <a:solidFill>
                  <a:srgbClr val="61716A"/>
                </a:solidFill>
                <a:latin typeface="Arial"/>
                <a:ea typeface="Arial"/>
                <a:cs typeface="Arial"/>
              </a:defRPr>
            </a:pPr>
            <a:r>
              <a:rPr sz="900" b="1">
                <a:solidFill>
                  <a:srgbClr val="61716A"/>
                </a:solidFill>
                <a:latin typeface="Arial"/>
                <a:ea typeface="Arial"/>
                <a:cs typeface="Arial"/>
              </a:rPr>
              <a:t>OUTPUT</a:t>
            </a:r>
          </a:p>
        </p:txBody>
      </p:sp>
      <p:sp>
        <p:nvSpPr>
          <p:cNvPr id="30" name="">
            <a:extLst xmlns:a="http://schemas.openxmlformats.org/drawingml/2006/main">
              <a:ext uri="{FF2B5EF4-FFF2-40B4-BE49-F238E27FC236}">
                <a16:creationId xmlns:a16="http://schemas.microsoft.com/office/drawing/2014/main" id="{E86418A8-0001-42A8-A4EB-7A683A25D20F}"/>
              </a:ext>
            </a:extLst>
          </p:cNvPr>
          <p:cNvSpPr>
            <a:spLocks xmlns:a="http://schemas.openxmlformats.org/drawingml/2006/main" noGrp="1"/>
          </p:cNvSpPr>
          <p:nvPr/>
        </p:nvSpPr>
        <p:spPr>
          <a:xfrm xmlns:a="http://schemas.openxmlformats.org/drawingml/2006/main">
            <a:off x="7924800" y="50863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73F35"/>
                </a:solidFill>
                <a:latin typeface="Arial"/>
                <a:ea typeface="Arial"/>
                <a:cs typeface="Arial"/>
              </a:defRPr>
            </a:defPPr>
          </a:lstStyle>
          <a:p xmlns:a="http://schemas.openxmlformats.org/drawingml/2006/main">
            <a:pPr>
              <a:defRPr sz="1425" b="1">
                <a:solidFill>
                  <a:srgbClr val="173F35"/>
                </a:solidFill>
                <a:latin typeface="Arial"/>
                <a:ea typeface="Arial"/>
                <a:cs typeface="Arial"/>
              </a:defRPr>
            </a:pPr>
            <a:r>
              <a:rPr sz="1425" b="1">
                <a:solidFill>
                  <a:srgbClr val="173F35"/>
                </a:solidFill>
                <a:latin typeface="Arial"/>
                <a:ea typeface="Arial"/>
                <a:cs typeface="Arial"/>
              </a:rPr>
              <a:t>38 crop–disease labels</a:t>
            </a:r>
          </a:p>
        </p:txBody>
      </p:sp>
      <p:sp>
        <p:nvSpPr>
          <p:cNvPr id="31" name="">
            <a:extLst xmlns:a="http://schemas.openxmlformats.org/drawingml/2006/main">
              <a:ext uri="{FF2B5EF4-FFF2-40B4-BE49-F238E27FC236}">
                <a16:creationId xmlns:a16="http://schemas.microsoft.com/office/drawing/2014/main" id="{0A085745-7294-40F3-B2AF-1DA4F9BD056E}"/>
              </a:ext>
            </a:extLst>
          </p:cNvPr>
          <p:cNvSpPr>
            <a:spLocks xmlns:a="http://schemas.openxmlformats.org/drawingml/2006/main" noGrp="1"/>
          </p:cNvSpPr>
          <p:nvPr/>
        </p:nvSpPr>
        <p:spPr>
          <a:xfrm xmlns:a="http://schemas.openxmlformats.org/drawingml/2006/main">
            <a:off x="742950" y="58578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61716A"/>
                </a:solidFill>
                <a:latin typeface="Arial"/>
                <a:ea typeface="Arial"/>
                <a:cs typeface="Arial"/>
              </a:defRPr>
            </a:defPPr>
          </a:lstStyle>
          <a:p xmlns:a="http://schemas.openxmlformats.org/drawingml/2006/main">
            <a:pPr>
              <a:defRPr sz="1125" b="0">
                <a:solidFill>
                  <a:srgbClr val="61716A"/>
                </a:solidFill>
                <a:latin typeface="Arial"/>
                <a:ea typeface="Arial"/>
                <a:cs typeface="Arial"/>
              </a:defRPr>
            </a:pPr>
            <a:r>
              <a:rPr sz="1125" b="0">
                <a:solidFill>
                  <a:srgbClr val="61716A"/>
                </a:solidFill>
                <a:latin typeface="Arial"/>
                <a:ea typeface="Arial"/>
                <a:cs typeface="Arial"/>
              </a:rPr>
              <a:t>Validation selects the checkpoint. Test measures it once. PlantDoc archive: 2,578 images found; upstream page says 2,598.</a:t>
            </a:r>
          </a:p>
        </p:txBody>
      </p:sp>
      <p:sp>
        <p:nvSpPr>
          <p:cNvPr id="32" name="">
            <a:extLst xmlns:a="http://schemas.openxmlformats.org/drawingml/2006/main">
              <a:ext uri="{FF2B5EF4-FFF2-40B4-BE49-F238E27FC236}">
                <a16:creationId xmlns:a16="http://schemas.microsoft.com/office/drawing/2014/main" id="{333B7BE0-5C84-43BD-B9E3-5C6272433BE7}"/>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16D2191-33EC-474F-A4A0-09665AEA703E}"/>
              </a:ext>
            </a:extLst>
          </p:cNvPr>
          <p:cNvSpPr>
            <a:spLocks xmlns:a="http://schemas.openxmlformats.org/drawingml/2006/main" noGrp="1"/>
          </p:cNvSpPr>
          <p:nvPr/>
        </p:nvSpPr>
        <p:spPr>
          <a:xfrm xmlns:a="http://schemas.openxmlformats.org/drawingml/2006/main">
            <a:off x="685800" y="65436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61716A"/>
                </a:solidFill>
                <a:latin typeface="Arial"/>
                <a:ea typeface="Arial"/>
                <a:cs typeface="Arial"/>
              </a:defRPr>
            </a:defPPr>
          </a:lstStyle>
          <a:p xmlns:a="http://schemas.openxmlformats.org/drawingml/2006/main">
            <a:pPr>
              <a:defRPr sz="825" b="1">
                <a:solidFill>
                  <a:srgbClr val="61716A"/>
                </a:solidFill>
                <a:latin typeface="Arial"/>
                <a:ea typeface="Arial"/>
                <a:cs typeface="Arial"/>
              </a:defRPr>
            </a:pPr>
            <a:r>
              <a:rPr sz="825" b="1">
                <a:solidFill>
                  <a:srgbClr val="61716A"/>
                </a:solidFill>
                <a:latin typeface="Arial"/>
                <a:ea typeface="Arial"/>
                <a:cs typeface="Arial"/>
              </a:rPr>
              <a:t>PLANTVILLAGE BASELINE   PLANTDOC NOT YET TESTED</a:t>
            </a:r>
          </a:p>
        </p:txBody>
      </p:sp>
      <p:sp>
        <p:nvSpPr>
          <p:cNvPr id="34" name="">
            <a:extLst xmlns:a="http://schemas.openxmlformats.org/drawingml/2006/main">
              <a:ext uri="{FF2B5EF4-FFF2-40B4-BE49-F238E27FC236}">
                <a16:creationId xmlns:a16="http://schemas.microsoft.com/office/drawing/2014/main" id="{DF8A9DAD-1882-472E-A419-096342FB9669}"/>
              </a:ext>
            </a:extLst>
          </p:cNvPr>
          <p:cNvSpPr>
            <a:spLocks xmlns:a="http://schemas.openxmlformats.org/drawingml/2006/main" noGrp="1"/>
          </p:cNvSpPr>
          <p:nvPr/>
        </p:nvSpPr>
        <p:spPr>
          <a:xfrm xmlns:a="http://schemas.openxmlformats.org/drawingml/2006/main">
            <a:off x="10953750" y="65246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F6B54"/>
                </a:solidFill>
                <a:latin typeface="Arial"/>
                <a:ea typeface="Arial"/>
                <a:cs typeface="Arial"/>
              </a:defRPr>
            </a:defPPr>
          </a:lstStyle>
          <a:p xmlns:a="http://schemas.openxmlformats.org/drawingml/2006/main">
            <a:pPr>
              <a:defRPr sz="975" b="1">
                <a:solidFill>
                  <a:srgbClr val="2F6B54"/>
                </a:solidFill>
                <a:latin typeface="Arial"/>
                <a:ea typeface="Arial"/>
                <a:cs typeface="Arial"/>
              </a:defRPr>
            </a:pPr>
            <a:r>
              <a:rPr sz="975" b="1">
                <a:solidFill>
                  <a:srgbClr val="2F6B54"/>
                </a:solidFill>
                <a:latin typeface="Arial"/>
                <a:ea typeface="Arial"/>
                <a:cs typeface="Arial"/>
              </a:rPr>
              <a:t>04</a:t>
            </a:r>
          </a:p>
        </p:txBody>
      </p:sp>
    </p:spTree>
    <p:extLst>
      <p:ext uri="{BB962C8B-B14F-4D97-AF65-F5344CB8AC3E}">
        <p14:creationId xmlns:p14="http://schemas.microsoft.com/office/powerpoint/2010/main" val="420575448"/>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2A902C9-89F8-45A2-9BD1-4B65D45375B6}"/>
              </a:ext>
            </a:extLst>
          </p:cNvPr>
          <p:cNvSpPr>
            <a:spLocks xmlns:a="http://schemas.openxmlformats.org/drawingml/2006/main" noGrp="1"/>
          </p:cNvSpPr>
          <p:nvPr/>
        </p:nvSpPr>
        <p:spPr>
          <a:xfrm xmlns:a="http://schemas.openxmlformats.org/drawingml/2006/main">
            <a:off x="685800" y="3238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04  RESULTS</a:t>
            </a:r>
          </a:p>
        </p:txBody>
      </p:sp>
      <p:sp>
        <p:nvSpPr>
          <p:cNvPr id="2" name="">
            <a:extLst xmlns:a="http://schemas.openxmlformats.org/drawingml/2006/main">
              <a:ext uri="{FF2B5EF4-FFF2-40B4-BE49-F238E27FC236}">
                <a16:creationId xmlns:a16="http://schemas.microsoft.com/office/drawing/2014/main" id="{F2E1A2B4-5D99-4F38-B68D-8AD9C44F23ED}"/>
              </a:ext>
            </a:extLst>
          </p:cNvPr>
          <p:cNvSpPr>
            <a:spLocks xmlns:a="http://schemas.openxmlformats.org/drawingml/2006/main" noGrp="1"/>
          </p:cNvSpPr>
          <p:nvPr/>
        </p:nvSpPr>
        <p:spPr>
          <a:xfrm xmlns:a="http://schemas.openxmlformats.org/drawingml/2006/main">
            <a:off x="685800" y="638175"/>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150" b="1">
                <a:solidFill>
                  <a:srgbClr val="173F35"/>
                </a:solidFill>
                <a:latin typeface="Arial"/>
                <a:ea typeface="Arial"/>
                <a:cs typeface="Arial"/>
              </a:defRPr>
            </a:defPPr>
          </a:lstStyle>
          <a:p xmlns:a="http://schemas.openxmlformats.org/drawingml/2006/main">
            <a:pPr>
              <a:defRPr sz="3150" b="1">
                <a:solidFill>
                  <a:srgbClr val="173F35"/>
                </a:solidFill>
                <a:latin typeface="Arial"/>
                <a:ea typeface="Arial"/>
                <a:cs typeface="Arial"/>
              </a:defRPr>
            </a:pPr>
            <a:r>
              <a:rPr sz="3150" b="1">
                <a:solidFill>
                  <a:srgbClr val="173F35"/>
                </a:solidFill>
                <a:latin typeface="Arial"/>
                <a:ea typeface="Arial"/>
                <a:cs typeface="Arial"/>
              </a:rPr>
              <a:t>Held-out PlantVillage test: 96.07% macro-F1</a:t>
            </a:r>
          </a:p>
        </p:txBody>
      </p:sp>
      <p:sp>
        <p:nvSpPr>
          <p:cNvPr id="3" name="">
            <a:extLst xmlns:a="http://schemas.openxmlformats.org/drawingml/2006/main">
              <a:ext uri="{FF2B5EF4-FFF2-40B4-BE49-F238E27FC236}">
                <a16:creationId xmlns:a16="http://schemas.microsoft.com/office/drawing/2014/main" id="{2FA7A25B-A9F9-4DEC-9B3D-1491FEB47159}"/>
              </a:ext>
            </a:extLst>
          </p:cNvPr>
          <p:cNvSpPr>
            <a:spLocks xmlns:a="http://schemas.openxmlformats.org/drawingml/2006/main" noGrp="1"/>
          </p:cNvSpPr>
          <p:nvPr/>
        </p:nvSpPr>
        <p:spPr>
          <a:xfrm xmlns:a="http://schemas.openxmlformats.org/drawingml/2006/main">
            <a:off x="704850" y="1171575"/>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61716A"/>
                </a:solidFill>
                <a:latin typeface="Arial"/>
                <a:ea typeface="Arial"/>
                <a:cs typeface="Arial"/>
              </a:defRPr>
            </a:defPPr>
          </a:lstStyle>
          <a:p xmlns:a="http://schemas.openxmlformats.org/drawingml/2006/main">
            <a:pPr>
              <a:defRPr sz="1350" b="0">
                <a:solidFill>
                  <a:srgbClr val="61716A"/>
                </a:solidFill>
                <a:latin typeface="Arial"/>
                <a:ea typeface="Arial"/>
                <a:cs typeface="Arial"/>
              </a:defRPr>
            </a:pPr>
            <a:r>
              <a:rPr sz="1350" b="0">
                <a:solidFill>
                  <a:srgbClr val="61716A"/>
                </a:solidFill>
                <a:latin typeface="Arial"/>
                <a:ea typeface="Arial"/>
                <a:cs typeface="Arial"/>
              </a:rPr>
              <a:t>Checkpoint chosen at epoch 12 using validation macro-F1. Test size: 10,709 PlantVillage images.</a:t>
            </a:r>
          </a:p>
        </p:txBody>
      </p:sp>
      <p:sp>
        <p:nvSpPr>
          <p:cNvPr id="4" name="">
            <a:extLst xmlns:a="http://schemas.openxmlformats.org/drawingml/2006/main">
              <a:ext uri="{FF2B5EF4-FFF2-40B4-BE49-F238E27FC236}">
                <a16:creationId xmlns:a16="http://schemas.microsoft.com/office/drawing/2014/main" id="{5A4632B8-B7AD-4317-8C69-F4E89FCAA087}"/>
              </a:ext>
            </a:extLst>
          </p:cNvPr>
          <p:cNvSpPr>
            <a:spLocks xmlns:a="http://schemas.openxmlformats.org/drawingml/2006/main" noGrp="1"/>
          </p:cNvSpPr>
          <p:nvPr/>
        </p:nvSpPr>
        <p:spPr>
          <a:xfrm xmlns:a="http://schemas.openxmlformats.org/drawingml/2006/main">
            <a:off x="685800" y="1581150"/>
            <a:ext cx="1082040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871482-56C1-45EA-B325-7321A619E326}"/>
              </a:ext>
            </a:extLst>
          </p:cNvPr>
          <p:cNvSpPr>
            <a:spLocks xmlns:a="http://schemas.openxmlformats.org/drawingml/2006/main" noGrp="1"/>
          </p:cNvSpPr>
          <p:nvPr/>
        </p:nvSpPr>
        <p:spPr>
          <a:xfrm xmlns:a="http://schemas.openxmlformats.org/drawingml/2006/main">
            <a:off x="781050" y="17811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173F35"/>
                </a:solidFill>
                <a:latin typeface="Arial"/>
                <a:ea typeface="Arial"/>
                <a:cs typeface="Arial"/>
              </a:defRPr>
            </a:defPPr>
          </a:lstStyle>
          <a:p xmlns:a="http://schemas.openxmlformats.org/drawingml/2006/main">
            <a:pPr>
              <a:defRPr sz="1050" b="1">
                <a:solidFill>
                  <a:srgbClr val="173F35"/>
                </a:solidFill>
                <a:latin typeface="Arial"/>
                <a:ea typeface="Arial"/>
                <a:cs typeface="Arial"/>
              </a:defRPr>
            </a:pPr>
            <a:r>
              <a:rPr sz="1050" b="1">
                <a:solidFill>
                  <a:srgbClr val="173F35"/>
                </a:solidFill>
                <a:latin typeface="Arial"/>
                <a:ea typeface="Arial"/>
                <a:cs typeface="Arial"/>
              </a:rPr>
              <a:t>TRAIN LOSS</a:t>
            </a:r>
          </a:p>
        </p:txBody>
      </p:sp>
      <p:sp>
        <p:nvSpPr>
          <p:cNvPr id="6" name="">
            <a:extLst xmlns:a="http://schemas.openxmlformats.org/drawingml/2006/main">
              <a:ext uri="{FF2B5EF4-FFF2-40B4-BE49-F238E27FC236}">
                <a16:creationId xmlns:a16="http://schemas.microsoft.com/office/drawing/2014/main" id="{1303D4C2-02E6-4B78-9B63-D92C2207A747}"/>
              </a:ext>
            </a:extLst>
          </p:cNvPr>
          <p:cNvSpPr>
            <a:spLocks xmlns:a="http://schemas.openxmlformats.org/drawingml/2006/main" noGrp="1"/>
          </p:cNvSpPr>
          <p:nvPr/>
        </p:nvSpPr>
        <p:spPr>
          <a:xfrm xmlns:a="http://schemas.openxmlformats.org/drawingml/2006/main">
            <a:off x="6305550" y="178117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173F35"/>
                </a:solidFill>
                <a:latin typeface="Arial"/>
                <a:ea typeface="Arial"/>
                <a:cs typeface="Arial"/>
              </a:defRPr>
            </a:defPPr>
          </a:lstStyle>
          <a:p xmlns:a="http://schemas.openxmlformats.org/drawingml/2006/main">
            <a:pPr>
              <a:defRPr sz="1050" b="1">
                <a:solidFill>
                  <a:srgbClr val="173F35"/>
                </a:solidFill>
                <a:latin typeface="Arial"/>
                <a:ea typeface="Arial"/>
                <a:cs typeface="Arial"/>
              </a:defRPr>
            </a:pPr>
            <a:r>
              <a:rPr sz="1050" b="1">
                <a:solidFill>
                  <a:srgbClr val="173F35"/>
                </a:solidFill>
                <a:latin typeface="Arial"/>
                <a:ea typeface="Arial"/>
                <a:cs typeface="Arial"/>
              </a:rPr>
              <a:t>VALIDATION MACRO-F1</a:t>
            </a:r>
          </a:p>
        </p:txBody>
      </p:sp>
      <p:graphicFrame>
        <p:nvGraphicFramePr>
          <p:cNvPr id="7" name="Chart">
            <a:extLst xmlns:a="http://schemas.openxmlformats.org/drawingml/2006/main">
              <a:ext uri="{FF2B5EF4-FFF2-40B4-BE49-F238E27FC236}">
                <a16:creationId xmlns:a16="http://schemas.microsoft.com/office/drawing/2014/main" id="{8D431982-C8F4-4BF4-A6DA-BC6C504C9ACE}"/>
              </a:ext>
            </a:extLst>
          </p:cNvPr>
          <p:cNvGraphicFramePr/>
          <p:nvPr/>
        </p:nvGraphicFramePr>
        <p:xfrm>
          <a:off xmlns:a="http://schemas.openxmlformats.org/drawingml/2006/main" x="666750" y="2000250"/>
          <a:ext xmlns:a="http://schemas.openxmlformats.org/drawingml/2006/main" cx="5238750" cy="2428875"/>
        </p:xfrm>
        <a:graphic xmlns:a="http://schemas.openxmlformats.org/drawingml/2006/main">
          <a:graphicData uri="http://schemas.openxmlformats.org/drawingml/2006/chart">
            <c:chart xmlns:r="http://schemas.openxmlformats.org/officeDocument/2006/relationships" xmlns:c="http://schemas.openxmlformats.org/drawingml/2006/chart" r:id="Ra350fea87f99414c"/>
          </a:graphicData>
        </a:graphic>
      </p:graphicFrame>
      <p:graphicFrame>
        <p:nvGraphicFramePr>
          <p:cNvPr id="8" name="Chart">
            <a:extLst xmlns:a="http://schemas.openxmlformats.org/drawingml/2006/main">
              <a:ext uri="{FF2B5EF4-FFF2-40B4-BE49-F238E27FC236}">
                <a16:creationId xmlns:a16="http://schemas.microsoft.com/office/drawing/2014/main" id="{AE4182B3-71D6-4741-999D-14C4B6F750A7}"/>
              </a:ext>
            </a:extLst>
          </p:cNvPr>
          <p:cNvGraphicFramePr/>
          <p:nvPr/>
        </p:nvGraphicFramePr>
        <p:xfrm>
          <a:off xmlns:a="http://schemas.openxmlformats.org/drawingml/2006/main" x="6048375" y="2000250"/>
          <a:ext xmlns:a="http://schemas.openxmlformats.org/drawingml/2006/main" cx="5429250" cy="2428875"/>
        </p:xfrm>
        <a:graphic xmlns:a="http://schemas.openxmlformats.org/drawingml/2006/main">
          <a:graphicData uri="http://schemas.openxmlformats.org/drawingml/2006/chart">
            <c:chart xmlns:r="http://schemas.openxmlformats.org/officeDocument/2006/relationships" xmlns:c="http://schemas.openxmlformats.org/drawingml/2006/chart" r:id="R866432e658074a5b"/>
          </a:graphicData>
        </a:graphic>
      </p:graphicFrame>
      <p:sp>
        <p:nvSpPr>
          <p:cNvPr id="9" name="">
            <a:extLst xmlns:a="http://schemas.openxmlformats.org/drawingml/2006/main">
              <a:ext uri="{FF2B5EF4-FFF2-40B4-BE49-F238E27FC236}">
                <a16:creationId xmlns:a16="http://schemas.microsoft.com/office/drawing/2014/main" id="{6FB2A381-A634-42C3-9BB9-1EB2E560BFDB}"/>
              </a:ext>
            </a:extLst>
          </p:cNvPr>
          <p:cNvSpPr>
            <a:spLocks xmlns:a="http://schemas.openxmlformats.org/drawingml/2006/main" noGrp="1"/>
          </p:cNvSpPr>
          <p:nvPr/>
        </p:nvSpPr>
        <p:spPr>
          <a:xfrm xmlns:a="http://schemas.openxmlformats.org/drawingml/2006/main">
            <a:off x="781050" y="4572000"/>
            <a:ext cx="1072515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56E513-CA25-4790-8E4E-369E22C008CF}"/>
              </a:ext>
            </a:extLst>
          </p:cNvPr>
          <p:cNvSpPr>
            <a:spLocks xmlns:a="http://schemas.openxmlformats.org/drawingml/2006/main" noGrp="1"/>
          </p:cNvSpPr>
          <p:nvPr/>
        </p:nvSpPr>
        <p:spPr>
          <a:xfrm xmlns:a="http://schemas.openxmlformats.org/drawingml/2006/main">
            <a:off x="781050" y="4791075"/>
            <a:ext cx="2428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173F35"/>
                </a:solidFill>
                <a:latin typeface="Arial"/>
                <a:ea typeface="Arial"/>
                <a:cs typeface="Arial"/>
              </a:defRPr>
            </a:defPPr>
          </a:lstStyle>
          <a:p xmlns:a="http://schemas.openxmlformats.org/drawingml/2006/main">
            <a:pPr>
              <a:defRPr sz="2850" b="1">
                <a:solidFill>
                  <a:srgbClr val="173F35"/>
                </a:solidFill>
                <a:latin typeface="Arial"/>
                <a:ea typeface="Arial"/>
                <a:cs typeface="Arial"/>
              </a:defRPr>
            </a:pPr>
            <a:r>
              <a:rPr sz="2850" b="1">
                <a:solidFill>
                  <a:srgbClr val="173F35"/>
                </a:solidFill>
                <a:latin typeface="Arial"/>
                <a:ea typeface="Arial"/>
                <a:cs typeface="Arial"/>
              </a:rPr>
              <a:t>96.95%</a:t>
            </a:r>
          </a:p>
        </p:txBody>
      </p:sp>
      <p:sp>
        <p:nvSpPr>
          <p:cNvPr id="11" name="">
            <a:extLst xmlns:a="http://schemas.openxmlformats.org/drawingml/2006/main">
              <a:ext uri="{FF2B5EF4-FFF2-40B4-BE49-F238E27FC236}">
                <a16:creationId xmlns:a16="http://schemas.microsoft.com/office/drawing/2014/main" id="{75D1309C-73CA-4D3A-9F74-19DCC00D6331}"/>
              </a:ext>
            </a:extLst>
          </p:cNvPr>
          <p:cNvSpPr>
            <a:spLocks xmlns:a="http://schemas.openxmlformats.org/drawingml/2006/main" noGrp="1"/>
          </p:cNvSpPr>
          <p:nvPr/>
        </p:nvSpPr>
        <p:spPr>
          <a:xfrm xmlns:a="http://schemas.openxmlformats.org/drawingml/2006/main">
            <a:off x="800100" y="52863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61716A"/>
                </a:solidFill>
                <a:latin typeface="Arial"/>
                <a:ea typeface="Arial"/>
                <a:cs typeface="Arial"/>
              </a:defRPr>
            </a:defPPr>
          </a:lstStyle>
          <a:p xmlns:a="http://schemas.openxmlformats.org/drawingml/2006/main">
            <a:pPr>
              <a:defRPr sz="1200" b="0">
                <a:solidFill>
                  <a:srgbClr val="61716A"/>
                </a:solidFill>
                <a:latin typeface="Arial"/>
                <a:ea typeface="Arial"/>
                <a:cs typeface="Arial"/>
              </a:defRPr>
            </a:pPr>
            <a:r>
              <a:rPr sz="1200" b="0">
                <a:solidFill>
                  <a:srgbClr val="61716A"/>
                </a:solidFill>
                <a:latin typeface="Arial"/>
                <a:ea typeface="Arial"/>
                <a:cs typeface="Arial"/>
              </a:rPr>
              <a:t>Accuracy</a:t>
            </a:r>
          </a:p>
        </p:txBody>
      </p:sp>
      <p:sp>
        <p:nvSpPr>
          <p:cNvPr id="12" name="">
            <a:extLst xmlns:a="http://schemas.openxmlformats.org/drawingml/2006/main">
              <a:ext uri="{FF2B5EF4-FFF2-40B4-BE49-F238E27FC236}">
                <a16:creationId xmlns:a16="http://schemas.microsoft.com/office/drawing/2014/main" id="{CCD373B1-2393-44BC-9037-B9BC63FACEF4}"/>
              </a:ext>
            </a:extLst>
          </p:cNvPr>
          <p:cNvSpPr>
            <a:spLocks xmlns:a="http://schemas.openxmlformats.org/drawingml/2006/main" noGrp="1"/>
          </p:cNvSpPr>
          <p:nvPr/>
        </p:nvSpPr>
        <p:spPr>
          <a:xfrm xmlns:a="http://schemas.openxmlformats.org/drawingml/2006/main">
            <a:off x="4048125" y="4791075"/>
            <a:ext cx="2428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173F35"/>
                </a:solidFill>
                <a:latin typeface="Arial"/>
                <a:ea typeface="Arial"/>
                <a:cs typeface="Arial"/>
              </a:defRPr>
            </a:defPPr>
          </a:lstStyle>
          <a:p xmlns:a="http://schemas.openxmlformats.org/drawingml/2006/main">
            <a:pPr>
              <a:defRPr sz="2850" b="1">
                <a:solidFill>
                  <a:srgbClr val="173F35"/>
                </a:solidFill>
                <a:latin typeface="Arial"/>
                <a:ea typeface="Arial"/>
                <a:cs typeface="Arial"/>
              </a:defRPr>
            </a:pPr>
            <a:r>
              <a:rPr sz="2850" b="1">
                <a:solidFill>
                  <a:srgbClr val="173F35"/>
                </a:solidFill>
                <a:latin typeface="Arial"/>
                <a:ea typeface="Arial"/>
                <a:cs typeface="Arial"/>
              </a:rPr>
              <a:t>96.02%</a:t>
            </a:r>
          </a:p>
        </p:txBody>
      </p:sp>
      <p:sp>
        <p:nvSpPr>
          <p:cNvPr id="13" name="">
            <a:extLst xmlns:a="http://schemas.openxmlformats.org/drawingml/2006/main">
              <a:ext uri="{FF2B5EF4-FFF2-40B4-BE49-F238E27FC236}">
                <a16:creationId xmlns:a16="http://schemas.microsoft.com/office/drawing/2014/main" id="{5B3E9D70-D1AE-46B3-B3A5-1044425CE23E}"/>
              </a:ext>
            </a:extLst>
          </p:cNvPr>
          <p:cNvSpPr>
            <a:spLocks xmlns:a="http://schemas.openxmlformats.org/drawingml/2006/main" noGrp="1"/>
          </p:cNvSpPr>
          <p:nvPr/>
        </p:nvSpPr>
        <p:spPr>
          <a:xfrm xmlns:a="http://schemas.openxmlformats.org/drawingml/2006/main">
            <a:off x="4067175" y="528637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61716A"/>
                </a:solidFill>
                <a:latin typeface="Arial"/>
                <a:ea typeface="Arial"/>
                <a:cs typeface="Arial"/>
              </a:defRPr>
            </a:defPPr>
          </a:lstStyle>
          <a:p xmlns:a="http://schemas.openxmlformats.org/drawingml/2006/main">
            <a:pPr>
              <a:defRPr sz="1200" b="0">
                <a:solidFill>
                  <a:srgbClr val="61716A"/>
                </a:solidFill>
                <a:latin typeface="Arial"/>
                <a:ea typeface="Arial"/>
                <a:cs typeface="Arial"/>
              </a:defRPr>
            </a:pPr>
            <a:r>
              <a:rPr sz="1200" b="0">
                <a:solidFill>
                  <a:srgbClr val="61716A"/>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A7052856-1FD8-400F-BE2D-2FCF28E5AF6B}"/>
              </a:ext>
            </a:extLst>
          </p:cNvPr>
          <p:cNvSpPr>
            <a:spLocks xmlns:a="http://schemas.openxmlformats.org/drawingml/2006/main" noGrp="1"/>
          </p:cNvSpPr>
          <p:nvPr/>
        </p:nvSpPr>
        <p:spPr>
          <a:xfrm xmlns:a="http://schemas.openxmlformats.org/drawingml/2006/main">
            <a:off x="7334250" y="4791075"/>
            <a:ext cx="2428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D87942"/>
                </a:solidFill>
                <a:latin typeface="Arial"/>
                <a:ea typeface="Arial"/>
                <a:cs typeface="Arial"/>
              </a:defRPr>
            </a:defPPr>
          </a:lstStyle>
          <a:p xmlns:a="http://schemas.openxmlformats.org/drawingml/2006/main">
            <a:pPr>
              <a:defRPr sz="2850" b="1">
                <a:solidFill>
                  <a:srgbClr val="D87942"/>
                </a:solidFill>
                <a:latin typeface="Arial"/>
                <a:ea typeface="Arial"/>
                <a:cs typeface="Arial"/>
              </a:defRPr>
            </a:pPr>
            <a:r>
              <a:rPr sz="2850" b="1">
                <a:solidFill>
                  <a:srgbClr val="D87942"/>
                </a:solidFill>
                <a:latin typeface="Arial"/>
                <a:ea typeface="Arial"/>
                <a:cs typeface="Arial"/>
              </a:rPr>
              <a:t>96.07%</a:t>
            </a:r>
          </a:p>
        </p:txBody>
      </p:sp>
      <p:sp>
        <p:nvSpPr>
          <p:cNvPr id="15" name="">
            <a:extLst xmlns:a="http://schemas.openxmlformats.org/drawingml/2006/main">
              <a:ext uri="{FF2B5EF4-FFF2-40B4-BE49-F238E27FC236}">
                <a16:creationId xmlns:a16="http://schemas.microsoft.com/office/drawing/2014/main" id="{7ED278FB-EE63-4C68-B687-D047C46BEEB4}"/>
              </a:ext>
            </a:extLst>
          </p:cNvPr>
          <p:cNvSpPr>
            <a:spLocks xmlns:a="http://schemas.openxmlformats.org/drawingml/2006/main" noGrp="1"/>
          </p:cNvSpPr>
          <p:nvPr/>
        </p:nvSpPr>
        <p:spPr>
          <a:xfrm xmlns:a="http://schemas.openxmlformats.org/drawingml/2006/main">
            <a:off x="7353300" y="52863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61716A"/>
                </a:solidFill>
                <a:latin typeface="Arial"/>
                <a:ea typeface="Arial"/>
                <a:cs typeface="Arial"/>
              </a:defRPr>
            </a:defPPr>
          </a:lstStyle>
          <a:p xmlns:a="http://schemas.openxmlformats.org/drawingml/2006/main">
            <a:pPr>
              <a:defRPr sz="1200" b="0">
                <a:solidFill>
                  <a:srgbClr val="61716A"/>
                </a:solidFill>
                <a:latin typeface="Arial"/>
                <a:ea typeface="Arial"/>
                <a:cs typeface="Arial"/>
              </a:defRPr>
            </a:pPr>
            <a:r>
              <a:rPr sz="1200" b="0">
                <a:solidFill>
                  <a:srgbClr val="61716A"/>
                </a:solidFill>
                <a:latin typeface="Arial"/>
                <a:ea typeface="Arial"/>
                <a:cs typeface="Arial"/>
              </a:rPr>
              <a:t>Macro-F1</a:t>
            </a:r>
          </a:p>
        </p:txBody>
      </p:sp>
      <p:sp>
        <p:nvSpPr>
          <p:cNvPr id="16" name="">
            <a:extLst xmlns:a="http://schemas.openxmlformats.org/drawingml/2006/main">
              <a:ext uri="{FF2B5EF4-FFF2-40B4-BE49-F238E27FC236}">
                <a16:creationId xmlns:a16="http://schemas.microsoft.com/office/drawing/2014/main" id="{BA6B5FF8-B510-4A73-8E7C-C7D1ADE6A082}"/>
              </a:ext>
            </a:extLst>
          </p:cNvPr>
          <p:cNvSpPr>
            <a:spLocks xmlns:a="http://schemas.openxmlformats.org/drawingml/2006/main" noGrp="1"/>
          </p:cNvSpPr>
          <p:nvPr/>
        </p:nvSpPr>
        <p:spPr>
          <a:xfrm xmlns:a="http://schemas.openxmlformats.org/drawingml/2006/main">
            <a:off x="781050" y="5772150"/>
            <a:ext cx="1062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1D2925"/>
                </a:solidFill>
                <a:latin typeface="Arial"/>
                <a:ea typeface="Arial"/>
                <a:cs typeface="Arial"/>
              </a:defRPr>
            </a:defPPr>
          </a:lstStyle>
          <a:p xmlns:a="http://schemas.openxmlformats.org/drawingml/2006/main">
            <a:pPr>
              <a:defRPr sz="1200" b="0">
                <a:solidFill>
                  <a:srgbClr val="1D2925"/>
                </a:solidFill>
                <a:latin typeface="Arial"/>
                <a:ea typeface="Arial"/>
                <a:cs typeface="Arial"/>
              </a:defRPr>
            </a:pPr>
            <a:r>
              <a:rPr sz="1200" b="0">
                <a:solidFill>
                  <a:srgbClr val="1D2925"/>
                </a:solidFill>
                <a:latin typeface="Arial"/>
                <a:ea typeface="Arial"/>
                <a:cs typeface="Arial"/>
              </a:rPr>
              <a:t>Train loss fell across epochs. Validation macro-F1 moved unevenly, so the team kept the best validation checkpoint.</a:t>
            </a:r>
          </a:p>
        </p:txBody>
      </p:sp>
      <p:sp>
        <p:nvSpPr>
          <p:cNvPr id="17" name="">
            <a:extLst xmlns:a="http://schemas.openxmlformats.org/drawingml/2006/main">
              <a:ext uri="{FF2B5EF4-FFF2-40B4-BE49-F238E27FC236}">
                <a16:creationId xmlns:a16="http://schemas.microsoft.com/office/drawing/2014/main" id="{DE7FD828-C688-4855-A6A9-AA9DA4F4DDD2}"/>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2AEAD55-DB49-4707-BEF1-462308072FFC}"/>
              </a:ext>
            </a:extLst>
          </p:cNvPr>
          <p:cNvSpPr>
            <a:spLocks xmlns:a="http://schemas.openxmlformats.org/drawingml/2006/main" noGrp="1"/>
          </p:cNvSpPr>
          <p:nvPr/>
        </p:nvSpPr>
        <p:spPr>
          <a:xfrm xmlns:a="http://schemas.openxmlformats.org/drawingml/2006/main">
            <a:off x="685800" y="65436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61716A"/>
                </a:solidFill>
                <a:latin typeface="Arial"/>
                <a:ea typeface="Arial"/>
                <a:cs typeface="Arial"/>
              </a:defRPr>
            </a:defPPr>
          </a:lstStyle>
          <a:p xmlns:a="http://schemas.openxmlformats.org/drawingml/2006/main">
            <a:pPr>
              <a:defRPr sz="825" b="1">
                <a:solidFill>
                  <a:srgbClr val="61716A"/>
                </a:solidFill>
                <a:latin typeface="Arial"/>
                <a:ea typeface="Arial"/>
                <a:cs typeface="Arial"/>
              </a:defRPr>
            </a:pPr>
            <a:r>
              <a:rPr sz="825" b="1">
                <a:solidFill>
                  <a:srgbClr val="61716A"/>
                </a:solidFill>
                <a:latin typeface="Arial"/>
                <a:ea typeface="Arial"/>
                <a:cs typeface="Arial"/>
              </a:rPr>
              <a:t>HELD-OUT TEST   PLANTVILLAGE ONLY</a:t>
            </a:r>
          </a:p>
        </p:txBody>
      </p:sp>
      <p:sp>
        <p:nvSpPr>
          <p:cNvPr id="19" name="">
            <a:extLst xmlns:a="http://schemas.openxmlformats.org/drawingml/2006/main">
              <a:ext uri="{FF2B5EF4-FFF2-40B4-BE49-F238E27FC236}">
                <a16:creationId xmlns:a16="http://schemas.microsoft.com/office/drawing/2014/main" id="{CA1907B3-3CFD-4CA4-8B4E-8170EA62E8D6}"/>
              </a:ext>
            </a:extLst>
          </p:cNvPr>
          <p:cNvSpPr>
            <a:spLocks xmlns:a="http://schemas.openxmlformats.org/drawingml/2006/main" noGrp="1"/>
          </p:cNvSpPr>
          <p:nvPr/>
        </p:nvSpPr>
        <p:spPr>
          <a:xfrm xmlns:a="http://schemas.openxmlformats.org/drawingml/2006/main">
            <a:off x="10953750" y="65246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F6B54"/>
                </a:solidFill>
                <a:latin typeface="Arial"/>
                <a:ea typeface="Arial"/>
                <a:cs typeface="Arial"/>
              </a:defRPr>
            </a:defPPr>
          </a:lstStyle>
          <a:p xmlns:a="http://schemas.openxmlformats.org/drawingml/2006/main">
            <a:pPr>
              <a:defRPr sz="975" b="1">
                <a:solidFill>
                  <a:srgbClr val="2F6B54"/>
                </a:solidFill>
                <a:latin typeface="Arial"/>
                <a:ea typeface="Arial"/>
                <a:cs typeface="Arial"/>
              </a:defRPr>
            </a:pPr>
            <a:r>
              <a:rPr sz="975" b="1">
                <a:solidFill>
                  <a:srgbClr val="2F6B54"/>
                </a:solidFill>
                <a:latin typeface="Arial"/>
                <a:ea typeface="Arial"/>
                <a:cs typeface="Arial"/>
              </a:rPr>
              <a:t>05</a:t>
            </a:r>
          </a:p>
        </p:txBody>
      </p:sp>
    </p:spTree>
    <p:extLst>
      <p:ext uri="{BB962C8B-B14F-4D97-AF65-F5344CB8AC3E}">
        <p14:creationId xmlns:p14="http://schemas.microsoft.com/office/powerpoint/2010/main" val="2131116727"/>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0753EDD-387C-43D9-945B-377C224C85DD}"/>
              </a:ext>
            </a:extLst>
          </p:cNvPr>
          <p:cNvSpPr>
            <a:spLocks xmlns:a="http://schemas.openxmlformats.org/drawingml/2006/main" noGrp="1"/>
          </p:cNvSpPr>
          <p:nvPr/>
        </p:nvSpPr>
        <p:spPr>
          <a:xfrm xmlns:a="http://schemas.openxmlformats.org/drawingml/2006/main">
            <a:off x="685800" y="3238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F6B54"/>
                </a:solidFill>
                <a:latin typeface="Arial"/>
                <a:ea typeface="Arial"/>
                <a:cs typeface="Arial"/>
              </a:defRPr>
            </a:defPPr>
          </a:lstStyle>
          <a:p xmlns:a="http://schemas.openxmlformats.org/drawingml/2006/main">
            <a:pPr>
              <a:defRPr sz="1050" b="1">
                <a:solidFill>
                  <a:srgbClr val="2F6B54"/>
                </a:solidFill>
                <a:latin typeface="Arial"/>
                <a:ea typeface="Arial"/>
                <a:cs typeface="Arial"/>
              </a:defRPr>
            </a:pPr>
            <a:r>
              <a:rPr sz="1050" b="1">
                <a:solidFill>
                  <a:srgbClr val="2F6B54"/>
                </a:solidFill>
                <a:latin typeface="Arial"/>
                <a:ea typeface="Arial"/>
                <a:cs typeface="Arial"/>
              </a:rPr>
              <a:t>05  NEXT RESEARCH STEPS</a:t>
            </a:r>
          </a:p>
        </p:txBody>
      </p:sp>
      <p:sp>
        <p:nvSpPr>
          <p:cNvPr id="2" name="">
            <a:extLst xmlns:a="http://schemas.openxmlformats.org/drawingml/2006/main">
              <a:ext uri="{FF2B5EF4-FFF2-40B4-BE49-F238E27FC236}">
                <a16:creationId xmlns:a16="http://schemas.microsoft.com/office/drawing/2014/main" id="{0E09F71E-FAF7-4FD3-8D38-F0D26B3CC2E5}"/>
              </a:ext>
            </a:extLst>
          </p:cNvPr>
          <p:cNvSpPr>
            <a:spLocks xmlns:a="http://schemas.openxmlformats.org/drawingml/2006/main" noGrp="1"/>
          </p:cNvSpPr>
          <p:nvPr/>
        </p:nvSpPr>
        <p:spPr>
          <a:xfrm xmlns:a="http://schemas.openxmlformats.org/drawingml/2006/main">
            <a:off x="685800" y="638175"/>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150" b="1">
                <a:solidFill>
                  <a:srgbClr val="173F35"/>
                </a:solidFill>
                <a:latin typeface="Arial"/>
                <a:ea typeface="Arial"/>
                <a:cs typeface="Arial"/>
              </a:defRPr>
            </a:defPPr>
          </a:lstStyle>
          <a:p xmlns:a="http://schemas.openxmlformats.org/drawingml/2006/main">
            <a:pPr>
              <a:defRPr sz="3150" b="1">
                <a:solidFill>
                  <a:srgbClr val="173F35"/>
                </a:solidFill>
                <a:latin typeface="Arial"/>
                <a:ea typeface="Arial"/>
                <a:cs typeface="Arial"/>
              </a:defRPr>
            </a:pPr>
            <a:r>
              <a:rPr sz="3150" b="1">
                <a:solidFill>
                  <a:srgbClr val="173F35"/>
                </a:solidFill>
                <a:latin typeface="Arial"/>
                <a:ea typeface="Arial"/>
                <a:cs typeface="Arial"/>
              </a:rPr>
              <a:t>The next test is whether the baseline transfers</a:t>
            </a:r>
          </a:p>
        </p:txBody>
      </p:sp>
      <p:sp>
        <p:nvSpPr>
          <p:cNvPr id="3" name="">
            <a:extLst xmlns:a="http://schemas.openxmlformats.org/drawingml/2006/main">
              <a:ext uri="{FF2B5EF4-FFF2-40B4-BE49-F238E27FC236}">
                <a16:creationId xmlns:a16="http://schemas.microsoft.com/office/drawing/2014/main" id="{DF90EA6B-94AD-471D-B4EB-52234CA20350}"/>
              </a:ext>
            </a:extLst>
          </p:cNvPr>
          <p:cNvSpPr>
            <a:spLocks xmlns:a="http://schemas.openxmlformats.org/drawingml/2006/main" noGrp="1"/>
          </p:cNvSpPr>
          <p:nvPr/>
        </p:nvSpPr>
        <p:spPr>
          <a:xfrm xmlns:a="http://schemas.openxmlformats.org/drawingml/2006/main">
            <a:off x="704850" y="1171575"/>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61716A"/>
                </a:solidFill>
                <a:latin typeface="Arial"/>
                <a:ea typeface="Arial"/>
                <a:cs typeface="Arial"/>
              </a:defRPr>
            </a:defPPr>
          </a:lstStyle>
          <a:p xmlns:a="http://schemas.openxmlformats.org/drawingml/2006/main">
            <a:pPr>
              <a:defRPr sz="1350" b="0">
                <a:solidFill>
                  <a:srgbClr val="61716A"/>
                </a:solidFill>
                <a:latin typeface="Arial"/>
                <a:ea typeface="Arial"/>
                <a:cs typeface="Arial"/>
              </a:defRPr>
            </a:pPr>
            <a:r>
              <a:rPr sz="1350" b="0">
                <a:solidFill>
                  <a:srgbClr val="61716A"/>
                </a:solidFill>
                <a:latin typeface="Arial"/>
                <a:ea typeface="Arial"/>
                <a:cs typeface="Arial"/>
              </a:rPr>
              <a:t>Phase 2 establishes an in-domain reference. The field claim remains open.</a:t>
            </a:r>
          </a:p>
        </p:txBody>
      </p:sp>
      <p:sp>
        <p:nvSpPr>
          <p:cNvPr id="4" name="">
            <a:extLst xmlns:a="http://schemas.openxmlformats.org/drawingml/2006/main">
              <a:ext uri="{FF2B5EF4-FFF2-40B4-BE49-F238E27FC236}">
                <a16:creationId xmlns:a16="http://schemas.microsoft.com/office/drawing/2014/main" id="{CFDA0783-85A9-4DF3-806D-D77D1ADD2F1C}"/>
              </a:ext>
            </a:extLst>
          </p:cNvPr>
          <p:cNvSpPr>
            <a:spLocks xmlns:a="http://schemas.openxmlformats.org/drawingml/2006/main" noGrp="1"/>
          </p:cNvSpPr>
          <p:nvPr/>
        </p:nvSpPr>
        <p:spPr>
          <a:xfrm xmlns:a="http://schemas.openxmlformats.org/drawingml/2006/main">
            <a:off x="685800" y="1581150"/>
            <a:ext cx="10820400" cy="19050"/>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EDE805-739D-4092-8B7B-38EBDF84518D}"/>
              </a:ext>
            </a:extLst>
          </p:cNvPr>
          <p:cNvSpPr>
            <a:spLocks xmlns:a="http://schemas.openxmlformats.org/drawingml/2006/main" noGrp="1"/>
          </p:cNvSpPr>
          <p:nvPr/>
        </p:nvSpPr>
        <p:spPr>
          <a:xfrm xmlns:a="http://schemas.openxmlformats.org/drawingml/2006/main">
            <a:off x="762000" y="1847850"/>
            <a:ext cx="43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D87942"/>
                </a:solidFill>
                <a:latin typeface="Arial"/>
                <a:ea typeface="Arial"/>
                <a:cs typeface="Arial"/>
              </a:defRPr>
            </a:defPPr>
          </a:lstStyle>
          <a:p xmlns:a="http://schemas.openxmlformats.org/drawingml/2006/main">
            <a:pPr>
              <a:defRPr sz="1875" b="1">
                <a:solidFill>
                  <a:srgbClr val="D87942"/>
                </a:solidFill>
                <a:latin typeface="Arial"/>
                <a:ea typeface="Arial"/>
                <a:cs typeface="Arial"/>
              </a:defRPr>
            </a:pPr>
            <a:r>
              <a:rPr sz="1875" b="1">
                <a:solidFill>
                  <a:srgbClr val="D87942"/>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FB8BB61-98DA-4AE8-ACD4-A22957BAFEA1}"/>
              </a:ext>
            </a:extLst>
          </p:cNvPr>
          <p:cNvSpPr>
            <a:spLocks xmlns:a="http://schemas.openxmlformats.org/drawingml/2006/main" noGrp="1"/>
          </p:cNvSpPr>
          <p:nvPr/>
        </p:nvSpPr>
        <p:spPr>
          <a:xfrm xmlns:a="http://schemas.openxmlformats.org/drawingml/2006/main">
            <a:off x="1352550" y="18478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73F35"/>
                </a:solidFill>
                <a:latin typeface="Arial"/>
                <a:ea typeface="Arial"/>
                <a:cs typeface="Arial"/>
              </a:defRPr>
            </a:defPPr>
          </a:lstStyle>
          <a:p xmlns:a="http://schemas.openxmlformats.org/drawingml/2006/main">
            <a:pPr>
              <a:defRPr sz="1500" b="1">
                <a:solidFill>
                  <a:srgbClr val="173F35"/>
                </a:solidFill>
                <a:latin typeface="Arial"/>
                <a:ea typeface="Arial"/>
                <a:cs typeface="Arial"/>
              </a:defRPr>
            </a:pPr>
            <a:r>
              <a:rPr sz="1500" b="1">
                <a:solidFill>
                  <a:srgbClr val="173F35"/>
                </a:solidFill>
                <a:latin typeface="Arial"/>
                <a:ea typeface="Arial"/>
                <a:cs typeface="Arial"/>
              </a:rPr>
              <a:t>External test</a:t>
            </a:r>
          </a:p>
        </p:txBody>
      </p:sp>
      <p:sp>
        <p:nvSpPr>
          <p:cNvPr id="7" name="">
            <a:extLst xmlns:a="http://schemas.openxmlformats.org/drawingml/2006/main">
              <a:ext uri="{FF2B5EF4-FFF2-40B4-BE49-F238E27FC236}">
                <a16:creationId xmlns:a16="http://schemas.microsoft.com/office/drawing/2014/main" id="{635F68B0-1662-4CBB-BA78-82DB3091FF05}"/>
              </a:ext>
            </a:extLst>
          </p:cNvPr>
          <p:cNvSpPr>
            <a:spLocks xmlns:a="http://schemas.openxmlformats.org/drawingml/2006/main" noGrp="1"/>
          </p:cNvSpPr>
          <p:nvPr/>
        </p:nvSpPr>
        <p:spPr>
          <a:xfrm xmlns:a="http://schemas.openxmlformats.org/drawingml/2006/main">
            <a:off x="4000500" y="1847850"/>
            <a:ext cx="716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Map shared PlantVillage and PlantDoc labels. Evaluate PlantDoc once. Report unmatched classes.</a:t>
            </a:r>
          </a:p>
        </p:txBody>
      </p:sp>
      <p:sp>
        <p:nvSpPr>
          <p:cNvPr id="8" name="">
            <a:extLst xmlns:a="http://schemas.openxmlformats.org/drawingml/2006/main">
              <a:ext uri="{FF2B5EF4-FFF2-40B4-BE49-F238E27FC236}">
                <a16:creationId xmlns:a16="http://schemas.microsoft.com/office/drawing/2014/main" id="{85944362-5570-4DDD-A437-C7BCFCDDA5AE}"/>
              </a:ext>
            </a:extLst>
          </p:cNvPr>
          <p:cNvSpPr>
            <a:spLocks xmlns:a="http://schemas.openxmlformats.org/drawingml/2006/main" noGrp="1"/>
          </p:cNvSpPr>
          <p:nvPr/>
        </p:nvSpPr>
        <p:spPr>
          <a:xfrm xmlns:a="http://schemas.openxmlformats.org/drawingml/2006/main">
            <a:off x="762000" y="2438400"/>
            <a:ext cx="104775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C5BE38D-356F-4A03-87F6-2DD879DA8341}"/>
              </a:ext>
            </a:extLst>
          </p:cNvPr>
          <p:cNvSpPr>
            <a:spLocks xmlns:a="http://schemas.openxmlformats.org/drawingml/2006/main" noGrp="1"/>
          </p:cNvSpPr>
          <p:nvPr/>
        </p:nvSpPr>
        <p:spPr>
          <a:xfrm xmlns:a="http://schemas.openxmlformats.org/drawingml/2006/main">
            <a:off x="762000" y="2667000"/>
            <a:ext cx="43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D87942"/>
                </a:solidFill>
                <a:latin typeface="Arial"/>
                <a:ea typeface="Arial"/>
                <a:cs typeface="Arial"/>
              </a:defRPr>
            </a:defPPr>
          </a:lstStyle>
          <a:p xmlns:a="http://schemas.openxmlformats.org/drawingml/2006/main">
            <a:pPr>
              <a:defRPr sz="1875" b="1">
                <a:solidFill>
                  <a:srgbClr val="D87942"/>
                </a:solidFill>
                <a:latin typeface="Arial"/>
                <a:ea typeface="Arial"/>
                <a:cs typeface="Arial"/>
              </a:defRPr>
            </a:pPr>
            <a:r>
              <a:rPr sz="1875" b="1">
                <a:solidFill>
                  <a:srgbClr val="D87942"/>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3760EB0F-931C-45AF-9553-39EFD7C9EDCF}"/>
              </a:ext>
            </a:extLst>
          </p:cNvPr>
          <p:cNvSpPr>
            <a:spLocks xmlns:a="http://schemas.openxmlformats.org/drawingml/2006/main" noGrp="1"/>
          </p:cNvSpPr>
          <p:nvPr/>
        </p:nvSpPr>
        <p:spPr>
          <a:xfrm xmlns:a="http://schemas.openxmlformats.org/drawingml/2006/main">
            <a:off x="1352550" y="26670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73F35"/>
                </a:solidFill>
                <a:latin typeface="Arial"/>
                <a:ea typeface="Arial"/>
                <a:cs typeface="Arial"/>
              </a:defRPr>
            </a:defPPr>
          </a:lstStyle>
          <a:p xmlns:a="http://schemas.openxmlformats.org/drawingml/2006/main">
            <a:pPr>
              <a:defRPr sz="1500" b="1">
                <a:solidFill>
                  <a:srgbClr val="173F35"/>
                </a:solidFill>
                <a:latin typeface="Arial"/>
                <a:ea typeface="Arial"/>
                <a:cs typeface="Arial"/>
              </a:defRPr>
            </a:pPr>
            <a:r>
              <a:rPr sz="1500" b="1">
                <a:solidFill>
                  <a:srgbClr val="173F35"/>
                </a:solidFill>
                <a:latin typeface="Arial"/>
                <a:ea typeface="Arial"/>
                <a:cs typeface="Arial"/>
              </a:rPr>
              <a:t>Error review</a:t>
            </a:r>
          </a:p>
        </p:txBody>
      </p:sp>
      <p:sp>
        <p:nvSpPr>
          <p:cNvPr id="11" name="">
            <a:extLst xmlns:a="http://schemas.openxmlformats.org/drawingml/2006/main">
              <a:ext uri="{FF2B5EF4-FFF2-40B4-BE49-F238E27FC236}">
                <a16:creationId xmlns:a16="http://schemas.microsoft.com/office/drawing/2014/main" id="{F45CF9A2-35DF-4590-AE14-FACE8424A6AA}"/>
              </a:ext>
            </a:extLst>
          </p:cNvPr>
          <p:cNvSpPr>
            <a:spLocks xmlns:a="http://schemas.openxmlformats.org/drawingml/2006/main" noGrp="1"/>
          </p:cNvSpPr>
          <p:nvPr/>
        </p:nvSpPr>
        <p:spPr>
          <a:xfrm xmlns:a="http://schemas.openxmlformats.org/drawingml/2006/main">
            <a:off x="4000500" y="2667000"/>
            <a:ext cx="716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Use the class report and confusion matrix. Find weak classes and likely failure patterns.</a:t>
            </a:r>
          </a:p>
        </p:txBody>
      </p:sp>
      <p:sp>
        <p:nvSpPr>
          <p:cNvPr id="12" name="">
            <a:extLst xmlns:a="http://schemas.openxmlformats.org/drawingml/2006/main">
              <a:ext uri="{FF2B5EF4-FFF2-40B4-BE49-F238E27FC236}">
                <a16:creationId xmlns:a16="http://schemas.microsoft.com/office/drawing/2014/main" id="{8C4C312D-FF91-403B-B136-02F52462AA40}"/>
              </a:ext>
            </a:extLst>
          </p:cNvPr>
          <p:cNvSpPr>
            <a:spLocks xmlns:a="http://schemas.openxmlformats.org/drawingml/2006/main" noGrp="1"/>
          </p:cNvSpPr>
          <p:nvPr/>
        </p:nvSpPr>
        <p:spPr>
          <a:xfrm xmlns:a="http://schemas.openxmlformats.org/drawingml/2006/main">
            <a:off x="762000" y="3257550"/>
            <a:ext cx="104775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239359E-29B8-43D5-9123-90CC3CB990AC}"/>
              </a:ext>
            </a:extLst>
          </p:cNvPr>
          <p:cNvSpPr>
            <a:spLocks xmlns:a="http://schemas.openxmlformats.org/drawingml/2006/main" noGrp="1"/>
          </p:cNvSpPr>
          <p:nvPr/>
        </p:nvSpPr>
        <p:spPr>
          <a:xfrm xmlns:a="http://schemas.openxmlformats.org/drawingml/2006/main">
            <a:off x="762000" y="3486150"/>
            <a:ext cx="43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D87942"/>
                </a:solidFill>
                <a:latin typeface="Arial"/>
                <a:ea typeface="Arial"/>
                <a:cs typeface="Arial"/>
              </a:defRPr>
            </a:defPPr>
          </a:lstStyle>
          <a:p xmlns:a="http://schemas.openxmlformats.org/drawingml/2006/main">
            <a:pPr>
              <a:defRPr sz="1875" b="1">
                <a:solidFill>
                  <a:srgbClr val="D87942"/>
                </a:solidFill>
                <a:latin typeface="Arial"/>
                <a:ea typeface="Arial"/>
                <a:cs typeface="Arial"/>
              </a:defRPr>
            </a:pPr>
            <a:r>
              <a:rPr sz="1875" b="1">
                <a:solidFill>
                  <a:srgbClr val="D87942"/>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1A506C39-D587-4693-B64F-F197E5E85361}"/>
              </a:ext>
            </a:extLst>
          </p:cNvPr>
          <p:cNvSpPr>
            <a:spLocks xmlns:a="http://schemas.openxmlformats.org/drawingml/2006/main" noGrp="1"/>
          </p:cNvSpPr>
          <p:nvPr/>
        </p:nvSpPr>
        <p:spPr>
          <a:xfrm xmlns:a="http://schemas.openxmlformats.org/drawingml/2006/main">
            <a:off x="1352550" y="34861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73F35"/>
                </a:solidFill>
                <a:latin typeface="Arial"/>
                <a:ea typeface="Arial"/>
                <a:cs typeface="Arial"/>
              </a:defRPr>
            </a:defPPr>
          </a:lstStyle>
          <a:p xmlns:a="http://schemas.openxmlformats.org/drawingml/2006/main">
            <a:pPr>
              <a:defRPr sz="1500" b="1">
                <a:solidFill>
                  <a:srgbClr val="173F35"/>
                </a:solidFill>
                <a:latin typeface="Arial"/>
                <a:ea typeface="Arial"/>
                <a:cs typeface="Arial"/>
              </a:defRPr>
            </a:pPr>
            <a:r>
              <a:rPr sz="1500" b="1">
                <a:solidFill>
                  <a:srgbClr val="173F35"/>
                </a:solidFill>
                <a:latin typeface="Arial"/>
                <a:ea typeface="Arial"/>
                <a:cs typeface="Arial"/>
              </a:rPr>
              <a:t>Fair comparison</a:t>
            </a:r>
          </a:p>
        </p:txBody>
      </p:sp>
      <p:sp>
        <p:nvSpPr>
          <p:cNvPr id="15" name="">
            <a:extLst xmlns:a="http://schemas.openxmlformats.org/drawingml/2006/main">
              <a:ext uri="{FF2B5EF4-FFF2-40B4-BE49-F238E27FC236}">
                <a16:creationId xmlns:a16="http://schemas.microsoft.com/office/drawing/2014/main" id="{8CBFE06D-82AD-485C-A094-8112AF499EF5}"/>
              </a:ext>
            </a:extLst>
          </p:cNvPr>
          <p:cNvSpPr>
            <a:spLocks xmlns:a="http://schemas.openxmlformats.org/drawingml/2006/main" noGrp="1"/>
          </p:cNvSpPr>
          <p:nvPr/>
        </p:nvSpPr>
        <p:spPr>
          <a:xfrm xmlns:a="http://schemas.openxmlformats.org/drawingml/2006/main">
            <a:off x="4000500" y="3486150"/>
            <a:ext cx="716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Compare selected transfer-learning models on the same frozen split and metrics.</a:t>
            </a:r>
          </a:p>
        </p:txBody>
      </p:sp>
      <p:sp>
        <p:nvSpPr>
          <p:cNvPr id="16" name="">
            <a:extLst xmlns:a="http://schemas.openxmlformats.org/drawingml/2006/main">
              <a:ext uri="{FF2B5EF4-FFF2-40B4-BE49-F238E27FC236}">
                <a16:creationId xmlns:a16="http://schemas.microsoft.com/office/drawing/2014/main" id="{9A850943-9CBE-45D6-A4E1-548D0E7F85C9}"/>
              </a:ext>
            </a:extLst>
          </p:cNvPr>
          <p:cNvSpPr>
            <a:spLocks xmlns:a="http://schemas.openxmlformats.org/drawingml/2006/main" noGrp="1"/>
          </p:cNvSpPr>
          <p:nvPr/>
        </p:nvSpPr>
        <p:spPr>
          <a:xfrm xmlns:a="http://schemas.openxmlformats.org/drawingml/2006/main">
            <a:off x="762000" y="4076700"/>
            <a:ext cx="104775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2A61DC1-12AF-4161-A066-AA525941B0D1}"/>
              </a:ext>
            </a:extLst>
          </p:cNvPr>
          <p:cNvSpPr>
            <a:spLocks xmlns:a="http://schemas.openxmlformats.org/drawingml/2006/main" noGrp="1"/>
          </p:cNvSpPr>
          <p:nvPr/>
        </p:nvSpPr>
        <p:spPr>
          <a:xfrm xmlns:a="http://schemas.openxmlformats.org/drawingml/2006/main">
            <a:off x="762000" y="4305300"/>
            <a:ext cx="43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D87942"/>
                </a:solidFill>
                <a:latin typeface="Arial"/>
                <a:ea typeface="Arial"/>
                <a:cs typeface="Arial"/>
              </a:defRPr>
            </a:defPPr>
          </a:lstStyle>
          <a:p xmlns:a="http://schemas.openxmlformats.org/drawingml/2006/main">
            <a:pPr>
              <a:defRPr sz="1875" b="1">
                <a:solidFill>
                  <a:srgbClr val="D87942"/>
                </a:solidFill>
                <a:latin typeface="Arial"/>
                <a:ea typeface="Arial"/>
                <a:cs typeface="Arial"/>
              </a:defRPr>
            </a:pPr>
            <a:r>
              <a:rPr sz="1875" b="1">
                <a:solidFill>
                  <a:srgbClr val="D87942"/>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65556255-77C3-4843-82AD-E21D3DB61835}"/>
              </a:ext>
            </a:extLst>
          </p:cNvPr>
          <p:cNvSpPr>
            <a:spLocks xmlns:a="http://schemas.openxmlformats.org/drawingml/2006/main" noGrp="1"/>
          </p:cNvSpPr>
          <p:nvPr/>
        </p:nvSpPr>
        <p:spPr>
          <a:xfrm xmlns:a="http://schemas.openxmlformats.org/drawingml/2006/main">
            <a:off x="1352550" y="43053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73F35"/>
                </a:solidFill>
                <a:latin typeface="Arial"/>
                <a:ea typeface="Arial"/>
                <a:cs typeface="Arial"/>
              </a:defRPr>
            </a:defPPr>
          </a:lstStyle>
          <a:p xmlns:a="http://schemas.openxmlformats.org/drawingml/2006/main">
            <a:pPr>
              <a:defRPr sz="1500" b="1">
                <a:solidFill>
                  <a:srgbClr val="173F35"/>
                </a:solidFill>
                <a:latin typeface="Arial"/>
                <a:ea typeface="Arial"/>
                <a:cs typeface="Arial"/>
              </a:defRPr>
            </a:pPr>
            <a:r>
              <a:rPr sz="1500" b="1">
                <a:solidFill>
                  <a:srgbClr val="173F35"/>
                </a:solidFill>
                <a:latin typeface="Arial"/>
                <a:ea typeface="Arial"/>
                <a:cs typeface="Arial"/>
              </a:rPr>
              <a:t>Trust and use</a:t>
            </a:r>
          </a:p>
        </p:txBody>
      </p:sp>
      <p:sp>
        <p:nvSpPr>
          <p:cNvPr id="19" name="">
            <a:extLst xmlns:a="http://schemas.openxmlformats.org/drawingml/2006/main">
              <a:ext uri="{FF2B5EF4-FFF2-40B4-BE49-F238E27FC236}">
                <a16:creationId xmlns:a16="http://schemas.microsoft.com/office/drawing/2014/main" id="{B4DC8A4B-6785-4E4E-BB6D-695D38A05C66}"/>
              </a:ext>
            </a:extLst>
          </p:cNvPr>
          <p:cNvSpPr>
            <a:spLocks xmlns:a="http://schemas.openxmlformats.org/drawingml/2006/main" noGrp="1"/>
          </p:cNvSpPr>
          <p:nvPr/>
        </p:nvSpPr>
        <p:spPr>
          <a:xfrm xmlns:a="http://schemas.openxmlformats.org/drawingml/2006/main">
            <a:off x="4000500" y="4305300"/>
            <a:ext cx="716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D2925"/>
                </a:solidFill>
                <a:latin typeface="Arial"/>
                <a:ea typeface="Arial"/>
                <a:cs typeface="Arial"/>
              </a:defRPr>
            </a:defPPr>
          </a:lstStyle>
          <a:p xmlns:a="http://schemas.openxmlformats.org/drawingml/2006/main">
            <a:pPr>
              <a:defRPr sz="1275" b="0">
                <a:solidFill>
                  <a:srgbClr val="1D2925"/>
                </a:solidFill>
                <a:latin typeface="Arial"/>
                <a:ea typeface="Arial"/>
                <a:cs typeface="Arial"/>
              </a:defRPr>
            </a:pPr>
            <a:r>
              <a:rPr sz="1275" b="0">
                <a:solidFill>
                  <a:srgbClr val="1D2925"/>
                </a:solidFill>
                <a:latin typeface="Arial"/>
                <a:ea typeface="Arial"/>
                <a:cs typeface="Arial"/>
              </a:rPr>
              <a:t>Test calibration and abstention. Add Grad-CAM and a small demo after external evaluation.</a:t>
            </a:r>
          </a:p>
        </p:txBody>
      </p:sp>
      <p:sp>
        <p:nvSpPr>
          <p:cNvPr id="20" name="">
            <a:extLst xmlns:a="http://schemas.openxmlformats.org/drawingml/2006/main">
              <a:ext uri="{FF2B5EF4-FFF2-40B4-BE49-F238E27FC236}">
                <a16:creationId xmlns:a16="http://schemas.microsoft.com/office/drawing/2014/main" id="{95B1EFA6-9820-46EF-97A9-AFADB5F744D7}"/>
              </a:ext>
            </a:extLst>
          </p:cNvPr>
          <p:cNvSpPr>
            <a:spLocks xmlns:a="http://schemas.openxmlformats.org/drawingml/2006/main" noGrp="1"/>
          </p:cNvSpPr>
          <p:nvPr/>
        </p:nvSpPr>
        <p:spPr>
          <a:xfrm xmlns:a="http://schemas.openxmlformats.org/drawingml/2006/main">
            <a:off x="762000" y="4895850"/>
            <a:ext cx="104775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9E8DB8F-B20B-4F6B-A4F2-06C41382474E}"/>
              </a:ext>
            </a:extLst>
          </p:cNvPr>
          <p:cNvSpPr>
            <a:spLocks xmlns:a="http://schemas.openxmlformats.org/drawingml/2006/main" noGrp="1"/>
          </p:cNvSpPr>
          <p:nvPr/>
        </p:nvSpPr>
        <p:spPr>
          <a:xfrm xmlns:a="http://schemas.openxmlformats.org/drawingml/2006/main">
            <a:off x="762000" y="5219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1716A"/>
                </a:solidFill>
                <a:latin typeface="Arial"/>
                <a:ea typeface="Arial"/>
                <a:cs typeface="Arial"/>
              </a:defRPr>
            </a:defPPr>
          </a:lstStyle>
          <a:p xmlns:a="http://schemas.openxmlformats.org/drawingml/2006/main">
            <a:pPr>
              <a:defRPr sz="975" b="1">
                <a:solidFill>
                  <a:srgbClr val="61716A"/>
                </a:solidFill>
                <a:latin typeface="Arial"/>
                <a:ea typeface="Arial"/>
                <a:cs typeface="Arial"/>
              </a:defRPr>
            </a:pPr>
            <a:r>
              <a:rPr sz="975" b="1">
                <a:solidFill>
                  <a:srgbClr val="61716A"/>
                </a:solidFill>
                <a:latin typeface="Arial"/>
                <a:ea typeface="Arial"/>
                <a:cs typeface="Arial"/>
              </a:rPr>
              <a:t>CODE AND DATA SOURCES</a:t>
            </a:r>
          </a:p>
        </p:txBody>
      </p:sp>
      <p:sp>
        <p:nvSpPr>
          <p:cNvPr id="22" name="">
            <a:extLst xmlns:a="http://schemas.openxmlformats.org/drawingml/2006/main">
              <a:ext uri="{FF2B5EF4-FFF2-40B4-BE49-F238E27FC236}">
                <a16:creationId xmlns:a16="http://schemas.microsoft.com/office/drawing/2014/main" id="{2098CE43-7B84-469E-A939-57F63788C69D}"/>
              </a:ext>
            </a:extLst>
          </p:cNvPr>
          <p:cNvSpPr>
            <a:spLocks xmlns:a="http://schemas.openxmlformats.org/drawingml/2006/main" noGrp="1"/>
          </p:cNvSpPr>
          <p:nvPr/>
        </p:nvSpPr>
        <p:spPr>
          <a:xfrm xmlns:a="http://schemas.openxmlformats.org/drawingml/2006/main">
            <a:off x="762000" y="5476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173F35"/>
                </a:solidFill>
                <a:latin typeface="Arial"/>
                <a:ea typeface="Arial"/>
                <a:cs typeface="Arial"/>
              </a:defRPr>
            </a:defPPr>
          </a:lstStyle>
          <a:p xmlns:a="http://schemas.openxmlformats.org/drawingml/2006/main">
            <a:pPr>
              <a:defRPr sz="1125" b="1">
                <a:solidFill>
                  <a:srgbClr val="173F35"/>
                </a:solidFill>
                <a:latin typeface="Arial"/>
                <a:ea typeface="Arial"/>
                <a:cs typeface="Arial"/>
              </a:defRPr>
            </a:pPr>
            <a:r>
              <a:rPr sz="1125" b="1">
                <a:solidFill>
                  <a:srgbClr val="173F35"/>
                </a:solidFill>
                <a:latin typeface="Arial"/>
                <a:ea typeface="Arial"/>
                <a:cs typeface="Arial"/>
              </a:rPr>
              <a:t>GitHub  github.com/Shubham12864/Plant-leaves-disease-detection-using-cnn</a:t>
            </a:r>
          </a:p>
        </p:txBody>
      </p:sp>
      <p:sp>
        <p:nvSpPr>
          <p:cNvPr id="23" name="">
            <a:extLst xmlns:a="http://schemas.openxmlformats.org/drawingml/2006/main">
              <a:ext uri="{FF2B5EF4-FFF2-40B4-BE49-F238E27FC236}">
                <a16:creationId xmlns:a16="http://schemas.microsoft.com/office/drawing/2014/main" id="{AA75F3B6-C156-4022-ABC0-F84B0D03CA12}"/>
              </a:ext>
            </a:extLst>
          </p:cNvPr>
          <p:cNvSpPr>
            <a:spLocks xmlns:a="http://schemas.openxmlformats.org/drawingml/2006/main" noGrp="1"/>
          </p:cNvSpPr>
          <p:nvPr/>
        </p:nvSpPr>
        <p:spPr>
          <a:xfrm xmlns:a="http://schemas.openxmlformats.org/drawingml/2006/main">
            <a:off x="762000" y="57245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1D2925"/>
                </a:solidFill>
                <a:latin typeface="Arial"/>
                <a:ea typeface="Arial"/>
                <a:cs typeface="Arial"/>
              </a:defRPr>
            </a:defPPr>
          </a:lstStyle>
          <a:p xmlns:a="http://schemas.openxmlformats.org/drawingml/2006/main">
            <a:pPr>
              <a:defRPr sz="1050" b="0">
                <a:solidFill>
                  <a:srgbClr val="1D2925"/>
                </a:solidFill>
                <a:latin typeface="Arial"/>
                <a:ea typeface="Arial"/>
                <a:cs typeface="Arial"/>
              </a:defRPr>
            </a:pPr>
            <a:r>
              <a:rPr sz="1050" b="0">
                <a:solidFill>
                  <a:srgbClr val="1D2925"/>
                </a:solidFill>
                <a:latin typeface="Arial"/>
                <a:ea typeface="Arial"/>
                <a:cs typeface="Arial"/>
              </a:rPr>
              <a:t>PlantVillage  huggingface.co/datasets/mohanty/PlantVillage</a:t>
            </a:r>
          </a:p>
          <a:p xmlns:a="http://schemas.openxmlformats.org/drawingml/2006/main">
            <a:pPr>
              <a:defRPr sz="1050" b="0">
                <a:solidFill>
                  <a:srgbClr val="1D2925"/>
                </a:solidFill>
                <a:latin typeface="Arial"/>
                <a:ea typeface="Arial"/>
                <a:cs typeface="Arial"/>
              </a:defRPr>
            </a:pPr>
            <a:r>
              <a:rPr sz="1050" b="0">
                <a:solidFill>
                  <a:srgbClr val="1D2925"/>
                </a:solidFill>
                <a:latin typeface="Arial"/>
                <a:ea typeface="Arial"/>
                <a:cs typeface="Arial"/>
              </a:rPr>
              <a:t>PlantDoc  github.com/pratikkayal/PlantDoc-Dataset</a:t>
            </a:r>
          </a:p>
        </p:txBody>
      </p:sp>
      <p:sp>
        <p:nvSpPr>
          <p:cNvPr id="24" name="">
            <a:extLst xmlns:a="http://schemas.openxmlformats.org/drawingml/2006/main">
              <a:ext uri="{FF2B5EF4-FFF2-40B4-BE49-F238E27FC236}">
                <a16:creationId xmlns:a16="http://schemas.microsoft.com/office/drawing/2014/main" id="{A4BD44E7-A4DD-4933-8776-B4AB9815BC46}"/>
              </a:ext>
            </a:extLst>
          </p:cNvPr>
          <p:cNvSpPr>
            <a:spLocks xmlns:a="http://schemas.openxmlformats.org/drawingml/2006/main" noGrp="1"/>
          </p:cNvSpPr>
          <p:nvPr/>
        </p:nvSpPr>
        <p:spPr>
          <a:xfrm xmlns:a="http://schemas.openxmlformats.org/drawingml/2006/main">
            <a:off x="762000" y="61245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D87942"/>
                </a:solidFill>
                <a:latin typeface="Arial"/>
                <a:ea typeface="Arial"/>
                <a:cs typeface="Arial"/>
              </a:defRPr>
            </a:defPPr>
          </a:lstStyle>
          <a:p xmlns:a="http://schemas.openxmlformats.org/drawingml/2006/main">
            <a:pPr>
              <a:defRPr sz="1125" b="1">
                <a:solidFill>
                  <a:srgbClr val="D87942"/>
                </a:solidFill>
                <a:latin typeface="Arial"/>
                <a:ea typeface="Arial"/>
                <a:cs typeface="Arial"/>
              </a:defRPr>
            </a:pPr>
            <a:r>
              <a:rPr sz="1125" b="1">
                <a:solidFill>
                  <a:srgbClr val="D87942"/>
                </a:solidFill>
                <a:latin typeface="Arial"/>
                <a:ea typeface="Arial"/>
                <a:cs typeface="Arial"/>
              </a:rPr>
              <a:t>Next deliverable: a reviewed PlantDoc label map and external test report.</a:t>
            </a:r>
          </a:p>
        </p:txBody>
      </p:sp>
      <p:sp>
        <p:nvSpPr>
          <p:cNvPr id="25" name="">
            <a:extLst xmlns:a="http://schemas.openxmlformats.org/drawingml/2006/main">
              <a:ext uri="{FF2B5EF4-FFF2-40B4-BE49-F238E27FC236}">
                <a16:creationId xmlns:a16="http://schemas.microsoft.com/office/drawing/2014/main" id="{2D23248A-D6BB-4D62-9F6E-2A9EDCED4BD9}"/>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7DD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47EC79A-44EE-4056-B263-6EDE58696C99}"/>
              </a:ext>
            </a:extLst>
          </p:cNvPr>
          <p:cNvSpPr>
            <a:spLocks xmlns:a="http://schemas.openxmlformats.org/drawingml/2006/main" noGrp="1"/>
          </p:cNvSpPr>
          <p:nvPr/>
        </p:nvSpPr>
        <p:spPr>
          <a:xfrm xmlns:a="http://schemas.openxmlformats.org/drawingml/2006/main">
            <a:off x="685800" y="65436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61716A"/>
                </a:solidFill>
                <a:latin typeface="Arial"/>
                <a:ea typeface="Arial"/>
                <a:cs typeface="Arial"/>
              </a:defRPr>
            </a:defPPr>
          </a:lstStyle>
          <a:p xmlns:a="http://schemas.openxmlformats.org/drawingml/2006/main">
            <a:pPr>
              <a:defRPr sz="825" b="1">
                <a:solidFill>
                  <a:srgbClr val="61716A"/>
                </a:solidFill>
                <a:latin typeface="Arial"/>
                <a:ea typeface="Arial"/>
                <a:cs typeface="Arial"/>
              </a:defRPr>
            </a:pPr>
            <a:r>
              <a:rPr sz="825" b="1">
                <a:solidFill>
                  <a:srgbClr val="61716A"/>
                </a:solidFill>
                <a:latin typeface="Arial"/>
                <a:ea typeface="Arial"/>
                <a:cs typeface="Arial"/>
              </a:rPr>
              <a:t>PHASE 2 COMPLETE   FINAL PROJECT WORK CONTINUES</a:t>
            </a:r>
          </a:p>
        </p:txBody>
      </p:sp>
      <p:sp>
        <p:nvSpPr>
          <p:cNvPr id="27" name="">
            <a:extLst xmlns:a="http://schemas.openxmlformats.org/drawingml/2006/main">
              <a:ext uri="{FF2B5EF4-FFF2-40B4-BE49-F238E27FC236}">
                <a16:creationId xmlns:a16="http://schemas.microsoft.com/office/drawing/2014/main" id="{0A7E017A-5B56-45ED-9D68-F9226734A878}"/>
              </a:ext>
            </a:extLst>
          </p:cNvPr>
          <p:cNvSpPr>
            <a:spLocks xmlns:a="http://schemas.openxmlformats.org/drawingml/2006/main" noGrp="1"/>
          </p:cNvSpPr>
          <p:nvPr/>
        </p:nvSpPr>
        <p:spPr>
          <a:xfrm xmlns:a="http://schemas.openxmlformats.org/drawingml/2006/main">
            <a:off x="10953750" y="65246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F6B54"/>
                </a:solidFill>
                <a:latin typeface="Arial"/>
                <a:ea typeface="Arial"/>
                <a:cs typeface="Arial"/>
              </a:defRPr>
            </a:defPPr>
          </a:lstStyle>
          <a:p xmlns:a="http://schemas.openxmlformats.org/drawingml/2006/main">
            <a:pPr>
              <a:defRPr sz="975" b="1">
                <a:solidFill>
                  <a:srgbClr val="2F6B54"/>
                </a:solidFill>
                <a:latin typeface="Arial"/>
                <a:ea typeface="Arial"/>
                <a:cs typeface="Arial"/>
              </a:defRPr>
            </a:pPr>
            <a:r>
              <a:rPr sz="975" b="1">
                <a:solidFill>
                  <a:srgbClr val="2F6B54"/>
                </a:solidFill>
                <a:latin typeface="Arial"/>
                <a:ea typeface="Arial"/>
                <a:cs typeface="Arial"/>
              </a:rPr>
              <a:t>06</a:t>
            </a:r>
          </a:p>
        </p:txBody>
      </p:sp>
    </p:spTree>
    <p:extLst>
      <p:ext uri="{BB962C8B-B14F-4D97-AF65-F5344CB8AC3E}">
        <p14:creationId xmlns:p14="http://schemas.microsoft.com/office/powerpoint/2010/main" val="171487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2026-10-11T09:51:23.5770000Z</dcterms:created>
  <dcterms:modified xsi:type="dcterms:W3CDTF">2026-10-11T09:51:23.5770000Z</dcterms:modified>
</coreProperties>
</file>